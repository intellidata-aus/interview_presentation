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60330"/>
  <p:notesSz cx="6860330" cy="12192000"/>
  <p:embeddedFontLst>
    <p:embeddedFont>
      <p:font typeface="Quattrocento Sans" charset="-122" pitchFamily="34"/>
      <p:regular r:id="rId14"/>
    </p:embeddedFont>
    <p:embeddedFont>
      <p:font typeface="Liter" charset="-122" pitchFamily="34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c052bbb374ec8c1f7778a6e4e4a96a04efa0e272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77" r="177" t="0" b="0"/>
          <a:stretch/>
        </p:blipFill>
        <p:spPr>
          <a:xfrm>
            <a:off x="0" y="0"/>
            <a:ext cx="12192000" cy="686033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60330"/>
          </a:xfrm>
          <a:custGeom>
            <a:avLst/>
            <a:gdLst/>
            <a:ahLst/>
            <a:cxnLst/>
            <a:rect l="l" t="t" r="r" b="b"/>
            <a:pathLst>
              <a:path w="12192000" h="6860330">
                <a:moveTo>
                  <a:pt x="0" y="0"/>
                </a:moveTo>
                <a:lnTo>
                  <a:pt x="12192000" y="0"/>
                </a:lnTo>
                <a:lnTo>
                  <a:pt x="12192000" y="6860330"/>
                </a:lnTo>
                <a:lnTo>
                  <a:pt x="0" y="686033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77505" y="377505"/>
            <a:ext cx="2693798" cy="419450"/>
          </a:xfrm>
          <a:custGeom>
            <a:avLst/>
            <a:gdLst/>
            <a:ahLst/>
            <a:cxnLst/>
            <a:rect l="l" t="t" r="r" b="b"/>
            <a:pathLst>
              <a:path w="2693798" h="419450">
                <a:moveTo>
                  <a:pt x="37285" y="0"/>
                </a:moveTo>
                <a:lnTo>
                  <a:pt x="2656513" y="0"/>
                </a:lnTo>
                <a:cubicBezTo>
                  <a:pt x="2677105" y="0"/>
                  <a:pt x="2693798" y="16693"/>
                  <a:pt x="2693798" y="37285"/>
                </a:cubicBezTo>
                <a:lnTo>
                  <a:pt x="2693798" y="382165"/>
                </a:lnTo>
                <a:cubicBezTo>
                  <a:pt x="2693798" y="402757"/>
                  <a:pt x="2677105" y="419450"/>
                  <a:pt x="2656513" y="419450"/>
                </a:cubicBezTo>
                <a:lnTo>
                  <a:pt x="37285" y="419450"/>
                </a:lnTo>
                <a:cubicBezTo>
                  <a:pt x="16693" y="419450"/>
                  <a:pt x="0" y="402757"/>
                  <a:pt x="0" y="382165"/>
                </a:cubicBezTo>
                <a:lnTo>
                  <a:pt x="0" y="37285"/>
                </a:lnTo>
                <a:cubicBezTo>
                  <a:pt x="0" y="16707"/>
                  <a:pt x="16707" y="0"/>
                  <a:pt x="3728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8587" y="494018"/>
            <a:ext cx="2399601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spc="132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Interview Presentation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72844" y="1398165"/>
            <a:ext cx="8687266" cy="2516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8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284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Agentic AI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28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Systems in Production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72844" y="4213138"/>
            <a:ext cx="7270459" cy="363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6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approaches to building AI-powered systems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72844" y="5028734"/>
            <a:ext cx="11446312" cy="9321"/>
          </a:xfrm>
          <a:custGeom>
            <a:avLst/>
            <a:gdLst/>
            <a:ahLst/>
            <a:cxnLst/>
            <a:rect l="l" t="t" r="r" b="b"/>
            <a:pathLst>
              <a:path w="11446312" h="9321">
                <a:moveTo>
                  <a:pt x="0" y="0"/>
                </a:moveTo>
                <a:lnTo>
                  <a:pt x="11446312" y="0"/>
                </a:lnTo>
                <a:lnTo>
                  <a:pt x="11446312" y="9321"/>
                </a:lnTo>
                <a:lnTo>
                  <a:pt x="0" y="9321"/>
                </a:lnTo>
                <a:lnTo>
                  <a:pt x="0" y="0"/>
                </a:lnTo>
                <a:close/>
              </a:path>
            </a:pathLst>
          </a:custGeom>
          <a:solidFill>
            <a:srgbClr val="4A5059">
              <a:alpha val="50196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72844" y="5257101"/>
            <a:ext cx="894826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Dan Liu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247" y="5406239"/>
            <a:ext cx="848220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74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March 2026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72844" y="6082018"/>
            <a:ext cx="11446312" cy="9321"/>
          </a:xfrm>
          <a:custGeom>
            <a:avLst/>
            <a:gdLst/>
            <a:ahLst/>
            <a:cxnLst/>
            <a:rect l="l" t="t" r="r" b="b"/>
            <a:pathLst>
              <a:path w="11446312" h="9321">
                <a:moveTo>
                  <a:pt x="0" y="0"/>
                </a:moveTo>
                <a:lnTo>
                  <a:pt x="11446312" y="0"/>
                </a:lnTo>
                <a:lnTo>
                  <a:pt x="11446312" y="9321"/>
                </a:lnTo>
                <a:lnTo>
                  <a:pt x="0" y="9321"/>
                </a:lnTo>
                <a:lnTo>
                  <a:pt x="0" y="0"/>
                </a:lnTo>
                <a:close/>
              </a:path>
            </a:pathLst>
          </a:custGeom>
          <a:solidFill>
            <a:srgbClr val="C9A86A">
              <a:alpha val="3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06633" y="6361651"/>
            <a:ext cx="146807" cy="167780"/>
          </a:xfrm>
          <a:custGeom>
            <a:avLst/>
            <a:gdLst/>
            <a:ahLst/>
            <a:cxnLst/>
            <a:rect l="l" t="t" r="r" b="b"/>
            <a:pathLst>
              <a:path w="146807" h="167780">
                <a:moveTo>
                  <a:pt x="0" y="70782"/>
                </a:moveTo>
                <a:cubicBezTo>
                  <a:pt x="0" y="49056"/>
                  <a:pt x="17597" y="31459"/>
                  <a:pt x="39323" y="31459"/>
                </a:cubicBezTo>
                <a:lnTo>
                  <a:pt x="41945" y="31459"/>
                </a:lnTo>
                <a:cubicBezTo>
                  <a:pt x="47745" y="31459"/>
                  <a:pt x="52431" y="36145"/>
                  <a:pt x="52431" y="41945"/>
                </a:cubicBezTo>
                <a:cubicBezTo>
                  <a:pt x="52431" y="47745"/>
                  <a:pt x="47745" y="52431"/>
                  <a:pt x="41945" y="52431"/>
                </a:cubicBezTo>
                <a:lnTo>
                  <a:pt x="39323" y="52431"/>
                </a:lnTo>
                <a:cubicBezTo>
                  <a:pt x="29198" y="52431"/>
                  <a:pt x="20972" y="60656"/>
                  <a:pt x="20972" y="70782"/>
                </a:cubicBezTo>
                <a:lnTo>
                  <a:pt x="20972" y="73404"/>
                </a:lnTo>
                <a:lnTo>
                  <a:pt x="41945" y="73404"/>
                </a:lnTo>
                <a:cubicBezTo>
                  <a:pt x="53513" y="73404"/>
                  <a:pt x="62917" y="82809"/>
                  <a:pt x="62917" y="94376"/>
                </a:cubicBezTo>
                <a:lnTo>
                  <a:pt x="62917" y="115349"/>
                </a:lnTo>
                <a:cubicBezTo>
                  <a:pt x="62917" y="126916"/>
                  <a:pt x="53513" y="136321"/>
                  <a:pt x="41945" y="136321"/>
                </a:cubicBezTo>
                <a:lnTo>
                  <a:pt x="20972" y="136321"/>
                </a:lnTo>
                <a:cubicBezTo>
                  <a:pt x="9405" y="136321"/>
                  <a:pt x="0" y="126916"/>
                  <a:pt x="0" y="115349"/>
                </a:cubicBezTo>
                <a:lnTo>
                  <a:pt x="0" y="70782"/>
                </a:lnTo>
                <a:close/>
                <a:moveTo>
                  <a:pt x="83890" y="70782"/>
                </a:moveTo>
                <a:cubicBezTo>
                  <a:pt x="83890" y="49056"/>
                  <a:pt x="101487" y="31459"/>
                  <a:pt x="123213" y="31459"/>
                </a:cubicBezTo>
                <a:lnTo>
                  <a:pt x="125835" y="31459"/>
                </a:lnTo>
                <a:cubicBezTo>
                  <a:pt x="131635" y="31459"/>
                  <a:pt x="136321" y="36145"/>
                  <a:pt x="136321" y="41945"/>
                </a:cubicBezTo>
                <a:cubicBezTo>
                  <a:pt x="136321" y="47745"/>
                  <a:pt x="131635" y="52431"/>
                  <a:pt x="125835" y="52431"/>
                </a:cubicBezTo>
                <a:lnTo>
                  <a:pt x="123213" y="52431"/>
                </a:lnTo>
                <a:cubicBezTo>
                  <a:pt x="113088" y="52431"/>
                  <a:pt x="104862" y="60656"/>
                  <a:pt x="104862" y="70782"/>
                </a:cubicBezTo>
                <a:lnTo>
                  <a:pt x="104862" y="73404"/>
                </a:lnTo>
                <a:lnTo>
                  <a:pt x="125835" y="73404"/>
                </a:lnTo>
                <a:cubicBezTo>
                  <a:pt x="137402" y="73404"/>
                  <a:pt x="146807" y="82809"/>
                  <a:pt x="146807" y="94376"/>
                </a:cubicBezTo>
                <a:lnTo>
                  <a:pt x="146807" y="115349"/>
                </a:lnTo>
                <a:cubicBezTo>
                  <a:pt x="146807" y="126916"/>
                  <a:pt x="137402" y="136321"/>
                  <a:pt x="125835" y="136321"/>
                </a:cubicBezTo>
                <a:lnTo>
                  <a:pt x="104862" y="136321"/>
                </a:lnTo>
                <a:cubicBezTo>
                  <a:pt x="93295" y="136321"/>
                  <a:pt x="83890" y="126916"/>
                  <a:pt x="83890" y="115349"/>
                </a:cubicBezTo>
                <a:lnTo>
                  <a:pt x="83890" y="70782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3" name="Text 10"/>
          <p:cNvSpPr/>
          <p:nvPr/>
        </p:nvSpPr>
        <p:spPr>
          <a:xfrm>
            <a:off x="641959" y="6310385"/>
            <a:ext cx="8166482" cy="549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is shifting from systems that generate information to systems that can take actions. The real challenge today is how to operate these systems safely in production.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Progression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Evolution of AI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2019300"/>
            <a:ext cx="3600450" cy="2047875"/>
          </a:xfrm>
          <a:custGeom>
            <a:avLst/>
            <a:gdLst/>
            <a:ahLst/>
            <a:cxnLst/>
            <a:rect l="l" t="t" r="r" b="b"/>
            <a:pathLst>
              <a:path w="3600450" h="2047875">
                <a:moveTo>
                  <a:pt x="76201" y="0"/>
                </a:moveTo>
                <a:lnTo>
                  <a:pt x="3524249" y="0"/>
                </a:lnTo>
                <a:cubicBezTo>
                  <a:pt x="3566305" y="0"/>
                  <a:pt x="3600450" y="34145"/>
                  <a:pt x="3600450" y="76201"/>
                </a:cubicBezTo>
                <a:lnTo>
                  <a:pt x="3600450" y="1971674"/>
                </a:lnTo>
                <a:cubicBezTo>
                  <a:pt x="3600450" y="2013730"/>
                  <a:pt x="3566305" y="2047875"/>
                  <a:pt x="3524249" y="2047875"/>
                </a:cubicBezTo>
                <a:lnTo>
                  <a:pt x="76201" y="2047875"/>
                </a:lnTo>
                <a:cubicBezTo>
                  <a:pt x="34145" y="2047875"/>
                  <a:pt x="0" y="2013730"/>
                  <a:pt x="0" y="1971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5059">
              <a:alpha val="20000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125" y="22717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52475" y="24050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Text 5"/>
          <p:cNvSpPr/>
          <p:nvPr/>
        </p:nvSpPr>
        <p:spPr>
          <a:xfrm>
            <a:off x="1190625" y="2252663"/>
            <a:ext cx="1390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90625" y="2557463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2010s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3178" y="2938463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0" name="Text 8"/>
          <p:cNvSpPr/>
          <p:nvPr/>
        </p:nvSpPr>
        <p:spPr>
          <a:xfrm>
            <a:off x="862013" y="2900363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models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3178" y="3281363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2" name="Text 10"/>
          <p:cNvSpPr/>
          <p:nvPr/>
        </p:nvSpPr>
        <p:spPr>
          <a:xfrm>
            <a:off x="862013" y="3243263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 predictions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3178" y="3624263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4" name="Text 12"/>
          <p:cNvSpPr/>
          <p:nvPr/>
        </p:nvSpPr>
        <p:spPr>
          <a:xfrm>
            <a:off x="862013" y="3586163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&amp; regression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97338" y="2019300"/>
            <a:ext cx="3600450" cy="2047875"/>
          </a:xfrm>
          <a:custGeom>
            <a:avLst/>
            <a:gdLst/>
            <a:ahLst/>
            <a:cxnLst/>
            <a:rect l="l" t="t" r="r" b="b"/>
            <a:pathLst>
              <a:path w="3600450" h="2047875">
                <a:moveTo>
                  <a:pt x="76201" y="0"/>
                </a:moveTo>
                <a:lnTo>
                  <a:pt x="3524249" y="0"/>
                </a:lnTo>
                <a:cubicBezTo>
                  <a:pt x="3566305" y="0"/>
                  <a:pt x="3600450" y="34145"/>
                  <a:pt x="3600450" y="76201"/>
                </a:cubicBezTo>
                <a:lnTo>
                  <a:pt x="3600450" y="1971674"/>
                </a:lnTo>
                <a:cubicBezTo>
                  <a:pt x="3600450" y="2013730"/>
                  <a:pt x="3566305" y="2047875"/>
                  <a:pt x="3524249" y="2047875"/>
                </a:cubicBezTo>
                <a:lnTo>
                  <a:pt x="76201" y="2047875"/>
                </a:lnTo>
                <a:cubicBezTo>
                  <a:pt x="34145" y="2047875"/>
                  <a:pt x="0" y="2013730"/>
                  <a:pt x="0" y="1971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5059">
              <a:alpha val="20000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30700" y="22717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652144" y="240506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8" name="Text 16"/>
          <p:cNvSpPr/>
          <p:nvPr/>
        </p:nvSpPr>
        <p:spPr>
          <a:xfrm>
            <a:off x="5102200" y="2252663"/>
            <a:ext cx="1466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Generative AI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02200" y="2557463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2020s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4753" y="2938463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588" y="2900363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 assistants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4753" y="3281363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3" name="Text 21"/>
          <p:cNvSpPr/>
          <p:nvPr/>
        </p:nvSpPr>
        <p:spPr>
          <a:xfrm>
            <a:off x="4773588" y="3243263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generation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4753" y="3624263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588" y="3586163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Copilots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13675" y="2024062"/>
            <a:ext cx="3590925" cy="2038350"/>
          </a:xfrm>
          <a:custGeom>
            <a:avLst/>
            <a:gdLst/>
            <a:ahLst/>
            <a:cxnLst/>
            <a:rect l="l" t="t" r="r" b="b"/>
            <a:pathLst>
              <a:path w="3590925" h="2038350">
                <a:moveTo>
                  <a:pt x="76194" y="0"/>
                </a:moveTo>
                <a:lnTo>
                  <a:pt x="3514731" y="0"/>
                </a:lnTo>
                <a:cubicBezTo>
                  <a:pt x="3556812" y="0"/>
                  <a:pt x="3590925" y="34113"/>
                  <a:pt x="3590925" y="76194"/>
                </a:cubicBezTo>
                <a:lnTo>
                  <a:pt x="3590925" y="1962156"/>
                </a:lnTo>
                <a:cubicBezTo>
                  <a:pt x="3590925" y="2004237"/>
                  <a:pt x="3556812" y="2038350"/>
                  <a:pt x="3514731" y="2038350"/>
                </a:cubicBezTo>
                <a:lnTo>
                  <a:pt x="76194" y="2038350"/>
                </a:lnTo>
                <a:cubicBezTo>
                  <a:pt x="34113" y="2038350"/>
                  <a:pt x="0" y="2004237"/>
                  <a:pt x="0" y="196215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 w="25400">
            <a:solidFill>
              <a:srgbClr val="3D8F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51800" y="22812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8" name="Shape 26"/>
          <p:cNvSpPr/>
          <p:nvPr/>
        </p:nvSpPr>
        <p:spPr>
          <a:xfrm>
            <a:off x="8561338" y="241458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Text 27"/>
          <p:cNvSpPr/>
          <p:nvPr/>
        </p:nvSpPr>
        <p:spPr>
          <a:xfrm>
            <a:off x="9023300" y="2262188"/>
            <a:ext cx="1162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Agentic AI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23300" y="2566988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95854" y="2947988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2" name="Text 30"/>
          <p:cNvSpPr/>
          <p:nvPr/>
        </p:nvSpPr>
        <p:spPr>
          <a:xfrm>
            <a:off x="8694688" y="2909888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Planning &amp; reasoning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95854" y="3290888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4" name="Text 32"/>
          <p:cNvSpPr/>
          <p:nvPr/>
        </p:nvSpPr>
        <p:spPr>
          <a:xfrm>
            <a:off x="8694688" y="3252788"/>
            <a:ext cx="78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 usage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95854" y="3633788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6" name="Text 34"/>
          <p:cNvSpPr/>
          <p:nvPr/>
        </p:nvSpPr>
        <p:spPr>
          <a:xfrm>
            <a:off x="8694688" y="3595688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Multi-step execution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00050" y="4376738"/>
            <a:ext cx="11410950" cy="1457325"/>
          </a:xfrm>
          <a:custGeom>
            <a:avLst/>
            <a:gdLst/>
            <a:ahLst/>
            <a:cxnLst/>
            <a:rect l="l" t="t" r="r" b="b"/>
            <a:pathLst>
              <a:path w="11410950" h="1457325">
                <a:moveTo>
                  <a:pt x="0" y="0"/>
                </a:moveTo>
                <a:lnTo>
                  <a:pt x="11334746" y="0"/>
                </a:lnTo>
                <a:cubicBezTo>
                  <a:pt x="11376833" y="0"/>
                  <a:pt x="11410950" y="34117"/>
                  <a:pt x="11410950" y="76204"/>
                </a:cubicBezTo>
                <a:lnTo>
                  <a:pt x="11410950" y="1381121"/>
                </a:lnTo>
                <a:cubicBezTo>
                  <a:pt x="11410950" y="1423208"/>
                  <a:pt x="11376833" y="1457325"/>
                  <a:pt x="11334746" y="1457325"/>
                </a:cubicBezTo>
                <a:lnTo>
                  <a:pt x="0" y="1457325"/>
                </a:lnTo>
                <a:lnTo>
                  <a:pt x="0" y="0"/>
                </a:lnTo>
                <a:close/>
              </a:path>
            </a:pathLst>
          </a:custGeom>
          <a:solidFill>
            <a:srgbClr val="C9A86A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0050" y="4376738"/>
            <a:ext cx="38100" cy="1457325"/>
          </a:xfrm>
          <a:custGeom>
            <a:avLst/>
            <a:gdLst/>
            <a:ahLst/>
            <a:cxnLst/>
            <a:rect l="l" t="t" r="r" b="b"/>
            <a:pathLst>
              <a:path w="38100" h="1457325">
                <a:moveTo>
                  <a:pt x="0" y="0"/>
                </a:moveTo>
                <a:lnTo>
                  <a:pt x="38100" y="0"/>
                </a:lnTo>
                <a:lnTo>
                  <a:pt x="38100" y="1457325"/>
                </a:lnTo>
                <a:lnTo>
                  <a:pt x="0" y="1457325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9" name="Shape 37"/>
          <p:cNvSpPr/>
          <p:nvPr/>
        </p:nvSpPr>
        <p:spPr>
          <a:xfrm>
            <a:off x="692944" y="4643438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0" name="Text 38"/>
          <p:cNvSpPr/>
          <p:nvPr/>
        </p:nvSpPr>
        <p:spPr>
          <a:xfrm>
            <a:off x="1105272" y="4605338"/>
            <a:ext cx="1059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05272" y="4986338"/>
            <a:ext cx="10572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is evolving from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generation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Each phase increases system capability and complexity, requiring new operational approaches.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21088" y="289083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3" name="Shape 41"/>
          <p:cNvSpPr/>
          <p:nvPr/>
        </p:nvSpPr>
        <p:spPr>
          <a:xfrm>
            <a:off x="7732663" y="289083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C9A86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Agentic AI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76363"/>
            <a:ext cx="6076950" cy="923925"/>
          </a:xfrm>
          <a:custGeom>
            <a:avLst/>
            <a:gdLst/>
            <a:ahLst/>
            <a:cxnLst/>
            <a:rect l="l" t="t" r="r" b="b"/>
            <a:pathLst>
              <a:path w="6076950" h="923925">
                <a:moveTo>
                  <a:pt x="76196" y="0"/>
                </a:moveTo>
                <a:lnTo>
                  <a:pt x="6000754" y="0"/>
                </a:lnTo>
                <a:cubicBezTo>
                  <a:pt x="6042836" y="0"/>
                  <a:pt x="6076950" y="34114"/>
                  <a:pt x="6076950" y="76196"/>
                </a:cubicBezTo>
                <a:lnTo>
                  <a:pt x="6076950" y="847729"/>
                </a:lnTo>
                <a:cubicBezTo>
                  <a:pt x="6076950" y="889811"/>
                  <a:pt x="6042836" y="923925"/>
                  <a:pt x="600075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 w="12700">
            <a:solidFill>
              <a:srgbClr val="4A50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025" y="1571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7713" y="17240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Text 5"/>
          <p:cNvSpPr/>
          <p:nvPr/>
        </p:nvSpPr>
        <p:spPr>
          <a:xfrm>
            <a:off x="1266825" y="1571625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6825" y="1876425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Initiates requests and goals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72721" y="16859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94543" y="280504"/>
                </a:moveTo>
                <a:cubicBezTo>
                  <a:pt x="101519" y="287480"/>
                  <a:pt x="112849" y="287480"/>
                  <a:pt x="119825" y="280504"/>
                </a:cubicBezTo>
                <a:lnTo>
                  <a:pt x="209122" y="191207"/>
                </a:lnTo>
                <a:cubicBezTo>
                  <a:pt x="216098" y="184231"/>
                  <a:pt x="216098" y="172901"/>
                  <a:pt x="209122" y="165925"/>
                </a:cubicBezTo>
                <a:cubicBezTo>
                  <a:pt x="202146" y="158948"/>
                  <a:pt x="190816" y="158948"/>
                  <a:pt x="183840" y="165925"/>
                </a:cubicBezTo>
                <a:lnTo>
                  <a:pt x="125016" y="224749"/>
                </a:lnTo>
                <a:lnTo>
                  <a:pt x="125016" y="17859"/>
                </a:lnTo>
                <a:cubicBezTo>
                  <a:pt x="125016" y="7981"/>
                  <a:pt x="117035" y="0"/>
                  <a:pt x="107156" y="0"/>
                </a:cubicBezTo>
                <a:cubicBezTo>
                  <a:pt x="97278" y="0"/>
                  <a:pt x="89297" y="7981"/>
                  <a:pt x="89297" y="17859"/>
                </a:cubicBezTo>
                <a:lnTo>
                  <a:pt x="89297" y="224749"/>
                </a:lnTo>
                <a:lnTo>
                  <a:pt x="30473" y="165925"/>
                </a:lnTo>
                <a:cubicBezTo>
                  <a:pt x="23496" y="158948"/>
                  <a:pt x="12167" y="158948"/>
                  <a:pt x="5190" y="165925"/>
                </a:cubicBezTo>
                <a:cubicBezTo>
                  <a:pt x="-1786" y="172901"/>
                  <a:pt x="-1786" y="184231"/>
                  <a:pt x="5190" y="191207"/>
                </a:cubicBezTo>
                <a:lnTo>
                  <a:pt x="94487" y="280504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0" name="Shape 8"/>
          <p:cNvSpPr/>
          <p:nvPr/>
        </p:nvSpPr>
        <p:spPr>
          <a:xfrm>
            <a:off x="390525" y="2466975"/>
            <a:ext cx="6067425" cy="933450"/>
          </a:xfrm>
          <a:custGeom>
            <a:avLst/>
            <a:gdLst/>
            <a:ahLst/>
            <a:cxnLst/>
            <a:rect l="l" t="t" r="r" b="b"/>
            <a:pathLst>
              <a:path w="6067425" h="933450">
                <a:moveTo>
                  <a:pt x="76198" y="0"/>
                </a:moveTo>
                <a:lnTo>
                  <a:pt x="5991227" y="0"/>
                </a:lnTo>
                <a:cubicBezTo>
                  <a:pt x="6033310" y="0"/>
                  <a:pt x="6067425" y="34115"/>
                  <a:pt x="6067425" y="76198"/>
                </a:cubicBezTo>
                <a:lnTo>
                  <a:pt x="6067425" y="857252"/>
                </a:lnTo>
                <a:cubicBezTo>
                  <a:pt x="6067425" y="899335"/>
                  <a:pt x="6033310" y="933450"/>
                  <a:pt x="5991227" y="933450"/>
                </a:cubicBezTo>
                <a:lnTo>
                  <a:pt x="76198" y="933450"/>
                </a:lnTo>
                <a:cubicBezTo>
                  <a:pt x="34115" y="933450"/>
                  <a:pt x="0" y="899335"/>
                  <a:pt x="0" y="8572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 w="25400">
            <a:solidFill>
              <a:srgbClr val="3D8F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0550" y="2667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2" name="Shape 10"/>
          <p:cNvSpPr/>
          <p:nvPr/>
        </p:nvSpPr>
        <p:spPr>
          <a:xfrm>
            <a:off x="742950" y="2819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1276350" y="26670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Agent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76350" y="2971800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reasoning &amp; decision making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72721" y="278130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94543" y="280504"/>
                </a:moveTo>
                <a:cubicBezTo>
                  <a:pt x="101519" y="287480"/>
                  <a:pt x="112849" y="287480"/>
                  <a:pt x="119825" y="280504"/>
                </a:cubicBezTo>
                <a:lnTo>
                  <a:pt x="209122" y="191207"/>
                </a:lnTo>
                <a:cubicBezTo>
                  <a:pt x="216098" y="184231"/>
                  <a:pt x="216098" y="172901"/>
                  <a:pt x="209122" y="165925"/>
                </a:cubicBezTo>
                <a:cubicBezTo>
                  <a:pt x="202146" y="158948"/>
                  <a:pt x="190816" y="158948"/>
                  <a:pt x="183840" y="165925"/>
                </a:cubicBezTo>
                <a:lnTo>
                  <a:pt x="125016" y="224749"/>
                </a:lnTo>
                <a:lnTo>
                  <a:pt x="125016" y="17859"/>
                </a:lnTo>
                <a:cubicBezTo>
                  <a:pt x="125016" y="7981"/>
                  <a:pt x="117035" y="0"/>
                  <a:pt x="107156" y="0"/>
                </a:cubicBezTo>
                <a:cubicBezTo>
                  <a:pt x="97278" y="0"/>
                  <a:pt x="89297" y="7981"/>
                  <a:pt x="89297" y="17859"/>
                </a:cubicBezTo>
                <a:lnTo>
                  <a:pt x="89297" y="224749"/>
                </a:lnTo>
                <a:lnTo>
                  <a:pt x="30473" y="165925"/>
                </a:lnTo>
                <a:cubicBezTo>
                  <a:pt x="23496" y="158948"/>
                  <a:pt x="12167" y="158948"/>
                  <a:pt x="5190" y="165925"/>
                </a:cubicBezTo>
                <a:cubicBezTo>
                  <a:pt x="-1786" y="172901"/>
                  <a:pt x="-1786" y="184231"/>
                  <a:pt x="5190" y="191207"/>
                </a:cubicBezTo>
                <a:lnTo>
                  <a:pt x="94487" y="280504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6" name="Shape 14"/>
          <p:cNvSpPr/>
          <p:nvPr/>
        </p:nvSpPr>
        <p:spPr>
          <a:xfrm>
            <a:off x="385763" y="3567113"/>
            <a:ext cx="6076950" cy="923925"/>
          </a:xfrm>
          <a:custGeom>
            <a:avLst/>
            <a:gdLst/>
            <a:ahLst/>
            <a:cxnLst/>
            <a:rect l="l" t="t" r="r" b="b"/>
            <a:pathLst>
              <a:path w="6076950" h="923925">
                <a:moveTo>
                  <a:pt x="76196" y="0"/>
                </a:moveTo>
                <a:lnTo>
                  <a:pt x="6000754" y="0"/>
                </a:lnTo>
                <a:cubicBezTo>
                  <a:pt x="6042836" y="0"/>
                  <a:pt x="6076950" y="34114"/>
                  <a:pt x="6076950" y="76196"/>
                </a:cubicBezTo>
                <a:lnTo>
                  <a:pt x="6076950" y="847729"/>
                </a:lnTo>
                <a:cubicBezTo>
                  <a:pt x="6076950" y="889811"/>
                  <a:pt x="6042836" y="923925"/>
                  <a:pt x="600075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 w="12700">
            <a:solidFill>
              <a:srgbClr val="4A50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1025" y="37623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04850" y="39147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9" name="Text 17"/>
          <p:cNvSpPr/>
          <p:nvPr/>
        </p:nvSpPr>
        <p:spPr>
          <a:xfrm>
            <a:off x="1266825" y="3762375"/>
            <a:ext cx="2714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Framework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66825" y="4067175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Orchestration &amp; workflow management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72721" y="387667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94543" y="280504"/>
                </a:moveTo>
                <a:cubicBezTo>
                  <a:pt x="101519" y="287480"/>
                  <a:pt x="112849" y="287480"/>
                  <a:pt x="119825" y="280504"/>
                </a:cubicBezTo>
                <a:lnTo>
                  <a:pt x="209122" y="191207"/>
                </a:lnTo>
                <a:cubicBezTo>
                  <a:pt x="216098" y="184231"/>
                  <a:pt x="216098" y="172901"/>
                  <a:pt x="209122" y="165925"/>
                </a:cubicBezTo>
                <a:cubicBezTo>
                  <a:pt x="202146" y="158948"/>
                  <a:pt x="190816" y="158948"/>
                  <a:pt x="183840" y="165925"/>
                </a:cubicBezTo>
                <a:lnTo>
                  <a:pt x="125016" y="224749"/>
                </a:lnTo>
                <a:lnTo>
                  <a:pt x="125016" y="17859"/>
                </a:lnTo>
                <a:cubicBezTo>
                  <a:pt x="125016" y="7981"/>
                  <a:pt x="117035" y="0"/>
                  <a:pt x="107156" y="0"/>
                </a:cubicBezTo>
                <a:cubicBezTo>
                  <a:pt x="97278" y="0"/>
                  <a:pt x="89297" y="7981"/>
                  <a:pt x="89297" y="17859"/>
                </a:cubicBezTo>
                <a:lnTo>
                  <a:pt x="89297" y="224749"/>
                </a:lnTo>
                <a:lnTo>
                  <a:pt x="30473" y="165925"/>
                </a:lnTo>
                <a:cubicBezTo>
                  <a:pt x="23496" y="158948"/>
                  <a:pt x="12167" y="158948"/>
                  <a:pt x="5190" y="165925"/>
                </a:cubicBezTo>
                <a:cubicBezTo>
                  <a:pt x="-1786" y="172901"/>
                  <a:pt x="-1786" y="184231"/>
                  <a:pt x="5190" y="191207"/>
                </a:cubicBezTo>
                <a:lnTo>
                  <a:pt x="94487" y="280504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2" name="Shape 20"/>
          <p:cNvSpPr/>
          <p:nvPr/>
        </p:nvSpPr>
        <p:spPr>
          <a:xfrm>
            <a:off x="385763" y="4652963"/>
            <a:ext cx="6076950" cy="923925"/>
          </a:xfrm>
          <a:custGeom>
            <a:avLst/>
            <a:gdLst/>
            <a:ahLst/>
            <a:cxnLst/>
            <a:rect l="l" t="t" r="r" b="b"/>
            <a:pathLst>
              <a:path w="6076950" h="923925">
                <a:moveTo>
                  <a:pt x="76196" y="0"/>
                </a:moveTo>
                <a:lnTo>
                  <a:pt x="6000754" y="0"/>
                </a:lnTo>
                <a:cubicBezTo>
                  <a:pt x="6042836" y="0"/>
                  <a:pt x="6076950" y="34114"/>
                  <a:pt x="6076950" y="76196"/>
                </a:cubicBezTo>
                <a:lnTo>
                  <a:pt x="6076950" y="847729"/>
                </a:lnTo>
                <a:cubicBezTo>
                  <a:pt x="6076950" y="889811"/>
                  <a:pt x="6042836" y="923925"/>
                  <a:pt x="600075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 w="12700">
            <a:solidFill>
              <a:srgbClr val="4A505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1025" y="4848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33425" y="50006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5" name="Text 23"/>
          <p:cNvSpPr/>
          <p:nvPr/>
        </p:nvSpPr>
        <p:spPr>
          <a:xfrm>
            <a:off x="1266825" y="4848225"/>
            <a:ext cx="2295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 Gateway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66825" y="5153025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tool access &amp; permissions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772721" y="49625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94543" y="280504"/>
                </a:moveTo>
                <a:cubicBezTo>
                  <a:pt x="101519" y="287480"/>
                  <a:pt x="112849" y="287480"/>
                  <a:pt x="119825" y="280504"/>
                </a:cubicBezTo>
                <a:lnTo>
                  <a:pt x="209122" y="191207"/>
                </a:lnTo>
                <a:cubicBezTo>
                  <a:pt x="216098" y="184231"/>
                  <a:pt x="216098" y="172901"/>
                  <a:pt x="209122" y="165925"/>
                </a:cubicBezTo>
                <a:cubicBezTo>
                  <a:pt x="202146" y="158948"/>
                  <a:pt x="190816" y="158948"/>
                  <a:pt x="183840" y="165925"/>
                </a:cubicBezTo>
                <a:lnTo>
                  <a:pt x="125016" y="224749"/>
                </a:lnTo>
                <a:lnTo>
                  <a:pt x="125016" y="17859"/>
                </a:lnTo>
                <a:cubicBezTo>
                  <a:pt x="125016" y="7981"/>
                  <a:pt x="117035" y="0"/>
                  <a:pt x="107156" y="0"/>
                </a:cubicBezTo>
                <a:cubicBezTo>
                  <a:pt x="97278" y="0"/>
                  <a:pt x="89297" y="7981"/>
                  <a:pt x="89297" y="17859"/>
                </a:cubicBezTo>
                <a:lnTo>
                  <a:pt x="89297" y="224749"/>
                </a:lnTo>
                <a:lnTo>
                  <a:pt x="30473" y="165925"/>
                </a:lnTo>
                <a:cubicBezTo>
                  <a:pt x="23496" y="158948"/>
                  <a:pt x="12167" y="158948"/>
                  <a:pt x="5190" y="165925"/>
                </a:cubicBezTo>
                <a:cubicBezTo>
                  <a:pt x="-1786" y="172901"/>
                  <a:pt x="-1786" y="184231"/>
                  <a:pt x="5190" y="191207"/>
                </a:cubicBezTo>
                <a:lnTo>
                  <a:pt x="94487" y="280504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8" name="Shape 26"/>
          <p:cNvSpPr/>
          <p:nvPr/>
        </p:nvSpPr>
        <p:spPr>
          <a:xfrm>
            <a:off x="390525" y="5743575"/>
            <a:ext cx="6657975" cy="933450"/>
          </a:xfrm>
          <a:custGeom>
            <a:avLst/>
            <a:gdLst/>
            <a:ahLst/>
            <a:cxnLst/>
            <a:rect l="l" t="t" r="r" b="b"/>
            <a:pathLst>
              <a:path w="6657975" h="933450">
                <a:moveTo>
                  <a:pt x="76198" y="0"/>
                </a:moveTo>
                <a:lnTo>
                  <a:pt x="6581777" y="0"/>
                </a:lnTo>
                <a:cubicBezTo>
                  <a:pt x="6623860" y="0"/>
                  <a:pt x="6657975" y="34115"/>
                  <a:pt x="6657975" y="76198"/>
                </a:cubicBezTo>
                <a:lnTo>
                  <a:pt x="6657975" y="857252"/>
                </a:lnTo>
                <a:cubicBezTo>
                  <a:pt x="6657975" y="899335"/>
                  <a:pt x="6623860" y="933450"/>
                  <a:pt x="6581777" y="933450"/>
                </a:cubicBezTo>
                <a:lnTo>
                  <a:pt x="76198" y="933450"/>
                </a:lnTo>
                <a:cubicBezTo>
                  <a:pt x="34115" y="933450"/>
                  <a:pt x="0" y="899335"/>
                  <a:pt x="0" y="8572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25400">
            <a:solidFill>
              <a:srgbClr val="C9A8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0550" y="5943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0" name="Shape 28"/>
          <p:cNvSpPr/>
          <p:nvPr/>
        </p:nvSpPr>
        <p:spPr>
          <a:xfrm>
            <a:off x="757238" y="60960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Text 29"/>
          <p:cNvSpPr/>
          <p:nvPr/>
        </p:nvSpPr>
        <p:spPr>
          <a:xfrm>
            <a:off x="1276350" y="5943600"/>
            <a:ext cx="2714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Systems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76350" y="6248400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Databases, APIs, infrastructure, services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65653" y="1847850"/>
            <a:ext cx="4438650" cy="4362450"/>
          </a:xfrm>
          <a:custGeom>
            <a:avLst/>
            <a:gdLst/>
            <a:ahLst/>
            <a:cxnLst/>
            <a:rect l="l" t="t" r="r" b="b"/>
            <a:pathLst>
              <a:path w="4438650" h="4362450">
                <a:moveTo>
                  <a:pt x="76212" y="0"/>
                </a:moveTo>
                <a:lnTo>
                  <a:pt x="4362438" y="0"/>
                </a:lnTo>
                <a:cubicBezTo>
                  <a:pt x="4404529" y="0"/>
                  <a:pt x="4438650" y="34121"/>
                  <a:pt x="4438650" y="76212"/>
                </a:cubicBezTo>
                <a:lnTo>
                  <a:pt x="4438650" y="4286238"/>
                </a:lnTo>
                <a:cubicBezTo>
                  <a:pt x="4438650" y="4328329"/>
                  <a:pt x="4404529" y="4362450"/>
                  <a:pt x="4362438" y="4362450"/>
                </a:cubicBezTo>
                <a:lnTo>
                  <a:pt x="76212" y="4362450"/>
                </a:lnTo>
                <a:cubicBezTo>
                  <a:pt x="34121" y="4362450"/>
                  <a:pt x="0" y="4328329"/>
                  <a:pt x="0" y="4286238"/>
                </a:cubicBezTo>
                <a:lnTo>
                  <a:pt x="0" y="76212"/>
                </a:lnTo>
                <a:cubicBezTo>
                  <a:pt x="0" y="34149"/>
                  <a:pt x="34149" y="0"/>
                  <a:pt x="76212" y="0"/>
                </a:cubicBezTo>
                <a:close/>
              </a:path>
            </a:pathLst>
          </a:custGeom>
          <a:solidFill>
            <a:srgbClr val="4A5059">
              <a:alpha val="20000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99015" y="2081212"/>
            <a:ext cx="4086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Components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99015" y="25765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730207" y="2633663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018115" y="2538413"/>
            <a:ext cx="300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Reasoning Layer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018115" y="2843213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LLM-powered decision making and planning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99015" y="32623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717408" y="3319463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018115" y="3224213"/>
            <a:ext cx="2847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018115" y="3529013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 management and state tracking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99015" y="394811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715696" y="4005262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018115" y="3910013"/>
            <a:ext cx="2752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 Access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018115" y="4214813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integration with external systems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99015" y="46339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717482" y="4691063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018115" y="4595813"/>
            <a:ext cx="2581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Systems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018115" y="4900613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infrastructure and services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99015" y="5362575"/>
            <a:ext cx="3971925" cy="9525"/>
          </a:xfrm>
          <a:custGeom>
            <a:avLst/>
            <a:gdLst/>
            <a:ahLst/>
            <a:cxnLst/>
            <a:rect l="l" t="t" r="r" b="b"/>
            <a:pathLst>
              <a:path w="3971925" h="9525">
                <a:moveTo>
                  <a:pt x="0" y="0"/>
                </a:moveTo>
                <a:lnTo>
                  <a:pt x="3971925" y="0"/>
                </a:lnTo>
                <a:lnTo>
                  <a:pt x="39719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9A86A">
              <a:alpha val="3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618065" y="55530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53" name="Text 51"/>
          <p:cNvSpPr/>
          <p:nvPr/>
        </p:nvSpPr>
        <p:spPr>
          <a:xfrm>
            <a:off x="7846665" y="5519738"/>
            <a:ext cx="3800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Point: The model is only one component of the system.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868" y="335868"/>
            <a:ext cx="11587438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b="1" spc="106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Application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5868" y="604562"/>
            <a:ext cx="11721785" cy="403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7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Example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5868" y="1074777"/>
            <a:ext cx="11604231" cy="23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2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Assistant for Data Platforms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2661" y="1511405"/>
            <a:ext cx="4483835" cy="1200727"/>
          </a:xfrm>
          <a:custGeom>
            <a:avLst/>
            <a:gdLst/>
            <a:ahLst/>
            <a:cxnLst/>
            <a:rect l="l" t="t" r="r" b="b"/>
            <a:pathLst>
              <a:path w="4483835" h="1200727">
                <a:moveTo>
                  <a:pt x="0" y="0"/>
                </a:moveTo>
                <a:lnTo>
                  <a:pt x="4416666" y="0"/>
                </a:lnTo>
                <a:cubicBezTo>
                  <a:pt x="4453762" y="0"/>
                  <a:pt x="4483835" y="30072"/>
                  <a:pt x="4483835" y="67169"/>
                </a:cubicBezTo>
                <a:lnTo>
                  <a:pt x="4483835" y="1133559"/>
                </a:lnTo>
                <a:cubicBezTo>
                  <a:pt x="4483835" y="1170655"/>
                  <a:pt x="4453762" y="1200727"/>
                  <a:pt x="4416666" y="1200727"/>
                </a:cubicBezTo>
                <a:lnTo>
                  <a:pt x="0" y="1200727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2661" y="1511405"/>
            <a:ext cx="33587" cy="1200727"/>
          </a:xfrm>
          <a:custGeom>
            <a:avLst/>
            <a:gdLst/>
            <a:ahLst/>
            <a:cxnLst/>
            <a:rect l="l" t="t" r="r" b="b"/>
            <a:pathLst>
              <a:path w="33587" h="1200727">
                <a:moveTo>
                  <a:pt x="0" y="0"/>
                </a:moveTo>
                <a:lnTo>
                  <a:pt x="33587" y="0"/>
                </a:lnTo>
                <a:lnTo>
                  <a:pt x="33587" y="1200727"/>
                </a:lnTo>
                <a:lnTo>
                  <a:pt x="0" y="1200727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575174" y="1746512"/>
            <a:ext cx="251901" cy="251901"/>
          </a:xfrm>
          <a:custGeom>
            <a:avLst/>
            <a:gdLst/>
            <a:ahLst/>
            <a:cxnLst/>
            <a:rect l="l" t="t" r="r" b="b"/>
            <a:pathLst>
              <a:path w="251901" h="251901">
                <a:moveTo>
                  <a:pt x="196306" y="189024"/>
                </a:moveTo>
                <a:cubicBezTo>
                  <a:pt x="185432" y="170131"/>
                  <a:pt x="165015" y="157438"/>
                  <a:pt x="141694" y="157438"/>
                </a:cubicBezTo>
                <a:lnTo>
                  <a:pt x="110207" y="157438"/>
                </a:lnTo>
                <a:cubicBezTo>
                  <a:pt x="86886" y="157438"/>
                  <a:pt x="66468" y="170131"/>
                  <a:pt x="55595" y="189024"/>
                </a:cubicBezTo>
                <a:cubicBezTo>
                  <a:pt x="72913" y="208310"/>
                  <a:pt x="98005" y="220413"/>
                  <a:pt x="125950" y="220413"/>
                </a:cubicBezTo>
                <a:cubicBezTo>
                  <a:pt x="153896" y="220413"/>
                  <a:pt x="178987" y="208261"/>
                  <a:pt x="196306" y="189024"/>
                </a:cubicBezTo>
                <a:close/>
                <a:moveTo>
                  <a:pt x="0" y="125950"/>
                </a:moveTo>
                <a:cubicBezTo>
                  <a:pt x="0" y="56436"/>
                  <a:pt x="56436" y="0"/>
                  <a:pt x="125950" y="0"/>
                </a:cubicBezTo>
                <a:cubicBezTo>
                  <a:pt x="195464" y="0"/>
                  <a:pt x="251901" y="56436"/>
                  <a:pt x="251901" y="125950"/>
                </a:cubicBezTo>
                <a:cubicBezTo>
                  <a:pt x="251901" y="195464"/>
                  <a:pt x="195464" y="251901"/>
                  <a:pt x="125950" y="251901"/>
                </a:cubicBezTo>
                <a:cubicBezTo>
                  <a:pt x="56436" y="251901"/>
                  <a:pt x="0" y="195464"/>
                  <a:pt x="0" y="125950"/>
                </a:cubicBezTo>
                <a:close/>
                <a:moveTo>
                  <a:pt x="125950" y="133822"/>
                </a:moveTo>
                <a:cubicBezTo>
                  <a:pt x="145501" y="133822"/>
                  <a:pt x="161374" y="117950"/>
                  <a:pt x="161374" y="98399"/>
                </a:cubicBezTo>
                <a:cubicBezTo>
                  <a:pt x="161374" y="78848"/>
                  <a:pt x="145501" y="62975"/>
                  <a:pt x="125950" y="62975"/>
                </a:cubicBezTo>
                <a:cubicBezTo>
                  <a:pt x="106400" y="62975"/>
                  <a:pt x="90527" y="78848"/>
                  <a:pt x="90527" y="98399"/>
                </a:cubicBezTo>
                <a:cubicBezTo>
                  <a:pt x="90527" y="117950"/>
                  <a:pt x="106400" y="133822"/>
                  <a:pt x="125950" y="133822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8" name="Text 6"/>
          <p:cNvSpPr/>
          <p:nvPr/>
        </p:nvSpPr>
        <p:spPr>
          <a:xfrm>
            <a:off x="966276" y="1712926"/>
            <a:ext cx="3753322" cy="23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Request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6276" y="2015207"/>
            <a:ext cx="3744926" cy="495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"Create a streaming pipeline from Kafka to Iceberg with monitoring."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0066" y="2913653"/>
            <a:ext cx="4492231" cy="3938050"/>
          </a:xfrm>
          <a:custGeom>
            <a:avLst/>
            <a:gdLst/>
            <a:ahLst/>
            <a:cxnLst/>
            <a:rect l="l" t="t" r="r" b="b"/>
            <a:pathLst>
              <a:path w="4492231" h="3938050">
                <a:moveTo>
                  <a:pt x="67183" y="0"/>
                </a:moveTo>
                <a:lnTo>
                  <a:pt x="4425048" y="0"/>
                </a:lnTo>
                <a:cubicBezTo>
                  <a:pt x="4462152" y="0"/>
                  <a:pt x="4492231" y="30079"/>
                  <a:pt x="4492231" y="67183"/>
                </a:cubicBezTo>
                <a:lnTo>
                  <a:pt x="4492231" y="3870866"/>
                </a:lnTo>
                <a:cubicBezTo>
                  <a:pt x="4492231" y="3907971"/>
                  <a:pt x="4462152" y="3938050"/>
                  <a:pt x="4425048" y="3938050"/>
                </a:cubicBezTo>
                <a:lnTo>
                  <a:pt x="67183" y="3938050"/>
                </a:lnTo>
                <a:cubicBezTo>
                  <a:pt x="30079" y="3938050"/>
                  <a:pt x="0" y="3907971"/>
                  <a:pt x="0" y="3870866"/>
                </a:cubicBezTo>
                <a:lnTo>
                  <a:pt x="0" y="67183"/>
                </a:lnTo>
                <a:cubicBezTo>
                  <a:pt x="0" y="30079"/>
                  <a:pt x="30079" y="0"/>
                  <a:pt x="67183" y="0"/>
                </a:cubicBezTo>
                <a:close/>
              </a:path>
            </a:pathLst>
          </a:custGeom>
          <a:solidFill>
            <a:srgbClr val="4A5059">
              <a:alpha val="20000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785" y="3119372"/>
            <a:ext cx="4181554" cy="268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Workflow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5785" y="3589587"/>
            <a:ext cx="335868" cy="335868"/>
          </a:xfrm>
          <a:custGeom>
            <a:avLst/>
            <a:gdLst/>
            <a:ahLst/>
            <a:cxnLst/>
            <a:rect l="l" t="t" r="r" b="b"/>
            <a:pathLst>
              <a:path w="335868" h="335868">
                <a:moveTo>
                  <a:pt x="167934" y="0"/>
                </a:moveTo>
                <a:lnTo>
                  <a:pt x="167934" y="0"/>
                </a:lnTo>
                <a:cubicBezTo>
                  <a:pt x="260619" y="0"/>
                  <a:pt x="335868" y="75249"/>
                  <a:pt x="335868" y="167934"/>
                </a:cubicBezTo>
                <a:lnTo>
                  <a:pt x="335868" y="167934"/>
                </a:lnTo>
                <a:cubicBezTo>
                  <a:pt x="335868" y="260619"/>
                  <a:pt x="260619" y="335868"/>
                  <a:pt x="167934" y="335868"/>
                </a:cubicBezTo>
                <a:lnTo>
                  <a:pt x="167934" y="335868"/>
                </a:lnTo>
                <a:cubicBezTo>
                  <a:pt x="75249" y="335868"/>
                  <a:pt x="0" y="260619"/>
                  <a:pt x="0" y="167934"/>
                </a:cubicBezTo>
                <a:lnTo>
                  <a:pt x="0" y="167934"/>
                </a:lnTo>
                <a:cubicBezTo>
                  <a:pt x="0" y="75249"/>
                  <a:pt x="75249" y="0"/>
                  <a:pt x="167934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3" name="Text 11"/>
          <p:cNvSpPr/>
          <p:nvPr/>
        </p:nvSpPr>
        <p:spPr>
          <a:xfrm>
            <a:off x="692399" y="3656760"/>
            <a:ext cx="109157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3623174"/>
            <a:ext cx="3686149" cy="23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 Request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3891868"/>
            <a:ext cx="3677752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Parse user intent and extract requirements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5785" y="4227736"/>
            <a:ext cx="335868" cy="335868"/>
          </a:xfrm>
          <a:custGeom>
            <a:avLst/>
            <a:gdLst/>
            <a:ahLst/>
            <a:cxnLst/>
            <a:rect l="l" t="t" r="r" b="b"/>
            <a:pathLst>
              <a:path w="335868" h="335868">
                <a:moveTo>
                  <a:pt x="167934" y="0"/>
                </a:moveTo>
                <a:lnTo>
                  <a:pt x="167934" y="0"/>
                </a:lnTo>
                <a:cubicBezTo>
                  <a:pt x="260619" y="0"/>
                  <a:pt x="335868" y="75249"/>
                  <a:pt x="335868" y="167934"/>
                </a:cubicBezTo>
                <a:lnTo>
                  <a:pt x="335868" y="167934"/>
                </a:lnTo>
                <a:cubicBezTo>
                  <a:pt x="335868" y="260619"/>
                  <a:pt x="260619" y="335868"/>
                  <a:pt x="167934" y="335868"/>
                </a:cubicBezTo>
                <a:lnTo>
                  <a:pt x="167934" y="335868"/>
                </a:lnTo>
                <a:cubicBezTo>
                  <a:pt x="75249" y="335868"/>
                  <a:pt x="0" y="260619"/>
                  <a:pt x="0" y="167934"/>
                </a:cubicBezTo>
                <a:lnTo>
                  <a:pt x="0" y="167934"/>
                </a:lnTo>
                <a:cubicBezTo>
                  <a:pt x="0" y="75249"/>
                  <a:pt x="75249" y="0"/>
                  <a:pt x="167934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7" name="Text 15"/>
          <p:cNvSpPr/>
          <p:nvPr/>
        </p:nvSpPr>
        <p:spPr>
          <a:xfrm>
            <a:off x="679476" y="4294909"/>
            <a:ext cx="134347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4261322"/>
            <a:ext cx="3686149" cy="23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Configuration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530017"/>
            <a:ext cx="3677752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pipeline specs and deployment configs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5785" y="4865884"/>
            <a:ext cx="335868" cy="335868"/>
          </a:xfrm>
          <a:custGeom>
            <a:avLst/>
            <a:gdLst/>
            <a:ahLst/>
            <a:cxnLst/>
            <a:rect l="l" t="t" r="r" b="b"/>
            <a:pathLst>
              <a:path w="335868" h="335868">
                <a:moveTo>
                  <a:pt x="167934" y="0"/>
                </a:moveTo>
                <a:lnTo>
                  <a:pt x="167934" y="0"/>
                </a:lnTo>
                <a:cubicBezTo>
                  <a:pt x="260619" y="0"/>
                  <a:pt x="335868" y="75249"/>
                  <a:pt x="335868" y="167934"/>
                </a:cubicBezTo>
                <a:lnTo>
                  <a:pt x="335868" y="167934"/>
                </a:lnTo>
                <a:cubicBezTo>
                  <a:pt x="335868" y="260619"/>
                  <a:pt x="260619" y="335868"/>
                  <a:pt x="167934" y="335868"/>
                </a:cubicBezTo>
                <a:lnTo>
                  <a:pt x="167934" y="335868"/>
                </a:lnTo>
                <a:cubicBezTo>
                  <a:pt x="75249" y="335868"/>
                  <a:pt x="0" y="260619"/>
                  <a:pt x="0" y="167934"/>
                </a:cubicBezTo>
                <a:lnTo>
                  <a:pt x="0" y="167934"/>
                </a:lnTo>
                <a:cubicBezTo>
                  <a:pt x="0" y="75249"/>
                  <a:pt x="75249" y="0"/>
                  <a:pt x="167934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1" name="Text 19"/>
          <p:cNvSpPr/>
          <p:nvPr/>
        </p:nvSpPr>
        <p:spPr>
          <a:xfrm>
            <a:off x="677771" y="4933058"/>
            <a:ext cx="142744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4899471"/>
            <a:ext cx="3686149" cy="23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Pipeline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5168165"/>
            <a:ext cx="3677752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Execute deployment to production environment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5785" y="5504033"/>
            <a:ext cx="335868" cy="335868"/>
          </a:xfrm>
          <a:custGeom>
            <a:avLst/>
            <a:gdLst/>
            <a:ahLst/>
            <a:cxnLst/>
            <a:rect l="l" t="t" r="r" b="b"/>
            <a:pathLst>
              <a:path w="335868" h="335868">
                <a:moveTo>
                  <a:pt x="167934" y="0"/>
                </a:moveTo>
                <a:lnTo>
                  <a:pt x="167934" y="0"/>
                </a:lnTo>
                <a:cubicBezTo>
                  <a:pt x="260619" y="0"/>
                  <a:pt x="335868" y="75249"/>
                  <a:pt x="335868" y="167934"/>
                </a:cubicBezTo>
                <a:lnTo>
                  <a:pt x="335868" y="167934"/>
                </a:lnTo>
                <a:cubicBezTo>
                  <a:pt x="335868" y="260619"/>
                  <a:pt x="260619" y="335868"/>
                  <a:pt x="167934" y="335868"/>
                </a:cubicBezTo>
                <a:lnTo>
                  <a:pt x="167934" y="335868"/>
                </a:lnTo>
                <a:cubicBezTo>
                  <a:pt x="75249" y="335868"/>
                  <a:pt x="0" y="260619"/>
                  <a:pt x="0" y="167934"/>
                </a:cubicBezTo>
                <a:lnTo>
                  <a:pt x="0" y="167934"/>
                </a:lnTo>
                <a:cubicBezTo>
                  <a:pt x="0" y="75249"/>
                  <a:pt x="75249" y="0"/>
                  <a:pt x="167934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5" name="Text 23"/>
          <p:cNvSpPr/>
          <p:nvPr/>
        </p:nvSpPr>
        <p:spPr>
          <a:xfrm>
            <a:off x="679542" y="5571207"/>
            <a:ext cx="134347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6000" y="5537620"/>
            <a:ext cx="3686149" cy="23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Monitoring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6000" y="5806314"/>
            <a:ext cx="3677752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up alerts, metrics, and observability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5785" y="6142182"/>
            <a:ext cx="335868" cy="335868"/>
          </a:xfrm>
          <a:custGeom>
            <a:avLst/>
            <a:gdLst/>
            <a:ahLst/>
            <a:cxnLst/>
            <a:rect l="l" t="t" r="r" b="b"/>
            <a:pathLst>
              <a:path w="335868" h="335868">
                <a:moveTo>
                  <a:pt x="167934" y="0"/>
                </a:moveTo>
                <a:lnTo>
                  <a:pt x="167934" y="0"/>
                </a:lnTo>
                <a:cubicBezTo>
                  <a:pt x="260619" y="0"/>
                  <a:pt x="335868" y="75249"/>
                  <a:pt x="335868" y="167934"/>
                </a:cubicBezTo>
                <a:lnTo>
                  <a:pt x="335868" y="167934"/>
                </a:lnTo>
                <a:cubicBezTo>
                  <a:pt x="335868" y="260619"/>
                  <a:pt x="260619" y="335868"/>
                  <a:pt x="167934" y="335868"/>
                </a:cubicBezTo>
                <a:lnTo>
                  <a:pt x="167934" y="335868"/>
                </a:lnTo>
                <a:cubicBezTo>
                  <a:pt x="75249" y="335868"/>
                  <a:pt x="0" y="260619"/>
                  <a:pt x="0" y="167934"/>
                </a:cubicBezTo>
                <a:lnTo>
                  <a:pt x="0" y="167934"/>
                </a:lnTo>
                <a:cubicBezTo>
                  <a:pt x="0" y="75249"/>
                  <a:pt x="75249" y="0"/>
                  <a:pt x="167934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9" name="Text 27"/>
          <p:cNvSpPr/>
          <p:nvPr/>
        </p:nvSpPr>
        <p:spPr>
          <a:xfrm>
            <a:off x="677574" y="6209355"/>
            <a:ext cx="142744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16000" y="6175769"/>
            <a:ext cx="3686149" cy="23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 Status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16000" y="6444463"/>
            <a:ext cx="3677752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completion summary and access details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10832" y="1515603"/>
            <a:ext cx="6742545" cy="4551008"/>
          </a:xfrm>
          <a:custGeom>
            <a:avLst/>
            <a:gdLst/>
            <a:ahLst/>
            <a:cxnLst/>
            <a:rect l="l" t="t" r="r" b="b"/>
            <a:pathLst>
              <a:path w="6742545" h="4551008">
                <a:moveTo>
                  <a:pt x="67173" y="0"/>
                </a:moveTo>
                <a:lnTo>
                  <a:pt x="6675373" y="0"/>
                </a:lnTo>
                <a:cubicBezTo>
                  <a:pt x="6712446" y="0"/>
                  <a:pt x="6742545" y="30099"/>
                  <a:pt x="6742545" y="67173"/>
                </a:cubicBezTo>
                <a:lnTo>
                  <a:pt x="6742545" y="4483835"/>
                </a:lnTo>
                <a:cubicBezTo>
                  <a:pt x="6742545" y="4520934"/>
                  <a:pt x="6712471" y="4551008"/>
                  <a:pt x="6675373" y="4551008"/>
                </a:cubicBezTo>
                <a:lnTo>
                  <a:pt x="67173" y="4551008"/>
                </a:lnTo>
                <a:cubicBezTo>
                  <a:pt x="30099" y="4551008"/>
                  <a:pt x="0" y="4520909"/>
                  <a:pt x="0" y="4483835"/>
                </a:cubicBezTo>
                <a:lnTo>
                  <a:pt x="0" y="67173"/>
                </a:lnTo>
                <a:cubicBezTo>
                  <a:pt x="0" y="30099"/>
                  <a:pt x="30099" y="0"/>
                  <a:pt x="67173" y="0"/>
                </a:cubicBezTo>
                <a:close/>
              </a:path>
            </a:pathLst>
          </a:custGeom>
          <a:solidFill>
            <a:srgbClr val="4A5059">
              <a:alpha val="20000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16551" y="1721322"/>
            <a:ext cx="6431868" cy="268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Interaction Diagram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55001" y="2317488"/>
            <a:ext cx="336327" cy="146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8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29873" y="2195736"/>
            <a:ext cx="5113587" cy="394645"/>
          </a:xfrm>
          <a:custGeom>
            <a:avLst/>
            <a:gdLst/>
            <a:ahLst/>
            <a:cxnLst/>
            <a:rect l="l" t="t" r="r" b="b"/>
            <a:pathLst>
              <a:path w="5113587" h="394645">
                <a:moveTo>
                  <a:pt x="33588" y="0"/>
                </a:moveTo>
                <a:lnTo>
                  <a:pt x="5079999" y="0"/>
                </a:lnTo>
                <a:cubicBezTo>
                  <a:pt x="5098549" y="0"/>
                  <a:pt x="5113587" y="15038"/>
                  <a:pt x="5113587" y="33588"/>
                </a:cubicBezTo>
                <a:lnTo>
                  <a:pt x="5113587" y="361056"/>
                </a:lnTo>
                <a:cubicBezTo>
                  <a:pt x="5113587" y="379607"/>
                  <a:pt x="5098549" y="394645"/>
                  <a:pt x="5079999" y="394645"/>
                </a:cubicBezTo>
                <a:lnTo>
                  <a:pt x="33588" y="394645"/>
                </a:lnTo>
                <a:cubicBezTo>
                  <a:pt x="15050" y="394645"/>
                  <a:pt x="0" y="379594"/>
                  <a:pt x="0" y="361056"/>
                </a:cubicBezTo>
                <a:lnTo>
                  <a:pt x="0" y="33588"/>
                </a:lnTo>
                <a:cubicBezTo>
                  <a:pt x="0" y="15050"/>
                  <a:pt x="15050" y="0"/>
                  <a:pt x="33588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68418" y="2292298"/>
            <a:ext cx="1511405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language request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829077" y="2888463"/>
            <a:ext cx="562251" cy="146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8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Agent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534071" y="2770909"/>
            <a:ext cx="5105190" cy="386248"/>
          </a:xfrm>
          <a:custGeom>
            <a:avLst/>
            <a:gdLst/>
            <a:ahLst/>
            <a:cxnLst/>
            <a:rect l="l" t="t" r="r" b="b"/>
            <a:pathLst>
              <a:path w="5105190" h="386248">
                <a:moveTo>
                  <a:pt x="33588" y="0"/>
                </a:moveTo>
                <a:lnTo>
                  <a:pt x="5071602" y="0"/>
                </a:lnTo>
                <a:cubicBezTo>
                  <a:pt x="5090152" y="0"/>
                  <a:pt x="5105190" y="15038"/>
                  <a:pt x="5105190" y="33588"/>
                </a:cubicBezTo>
                <a:lnTo>
                  <a:pt x="5105190" y="352660"/>
                </a:lnTo>
                <a:cubicBezTo>
                  <a:pt x="5105190" y="371198"/>
                  <a:pt x="5090140" y="386248"/>
                  <a:pt x="5071602" y="386248"/>
                </a:cubicBezTo>
                <a:lnTo>
                  <a:pt x="33588" y="386248"/>
                </a:lnTo>
                <a:cubicBezTo>
                  <a:pt x="15038" y="386248"/>
                  <a:pt x="0" y="371210"/>
                  <a:pt x="0" y="352660"/>
                </a:cubicBezTo>
                <a:lnTo>
                  <a:pt x="0" y="33588"/>
                </a:lnTo>
                <a:cubicBezTo>
                  <a:pt x="0" y="15038"/>
                  <a:pt x="15038" y="0"/>
                  <a:pt x="33588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 w="25400">
            <a:solidFill>
              <a:srgbClr val="3D8F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6815" y="2863273"/>
            <a:ext cx="1318281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Reasoning &amp; planning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010524" y="3828893"/>
            <a:ext cx="380803" cy="146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8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529873" y="3337686"/>
            <a:ext cx="5113587" cy="327471"/>
          </a:xfrm>
          <a:custGeom>
            <a:avLst/>
            <a:gdLst/>
            <a:ahLst/>
            <a:cxnLst/>
            <a:rect l="l" t="t" r="r" b="b"/>
            <a:pathLst>
              <a:path w="5113587" h="327471">
                <a:moveTo>
                  <a:pt x="33585" y="0"/>
                </a:moveTo>
                <a:lnTo>
                  <a:pt x="5080001" y="0"/>
                </a:lnTo>
                <a:cubicBezTo>
                  <a:pt x="5098550" y="0"/>
                  <a:pt x="5113587" y="15037"/>
                  <a:pt x="5113587" y="33585"/>
                </a:cubicBezTo>
                <a:lnTo>
                  <a:pt x="5113587" y="293886"/>
                </a:lnTo>
                <a:cubicBezTo>
                  <a:pt x="5113587" y="312434"/>
                  <a:pt x="5098550" y="327471"/>
                  <a:pt x="5080001" y="327471"/>
                </a:cubicBezTo>
                <a:lnTo>
                  <a:pt x="33585" y="327471"/>
                </a:lnTo>
                <a:cubicBezTo>
                  <a:pt x="15037" y="327471"/>
                  <a:pt x="0" y="312434"/>
                  <a:pt x="0" y="293886"/>
                </a:cubicBezTo>
                <a:lnTo>
                  <a:pt x="0" y="33585"/>
                </a:lnTo>
                <a:cubicBezTo>
                  <a:pt x="0" y="15037"/>
                  <a:pt x="15037" y="0"/>
                  <a:pt x="33585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68418" y="3400661"/>
            <a:ext cx="1024397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Kafka Admin API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29873" y="3740727"/>
            <a:ext cx="5113587" cy="327471"/>
          </a:xfrm>
          <a:custGeom>
            <a:avLst/>
            <a:gdLst/>
            <a:ahLst/>
            <a:cxnLst/>
            <a:rect l="l" t="t" r="r" b="b"/>
            <a:pathLst>
              <a:path w="5113587" h="327471">
                <a:moveTo>
                  <a:pt x="33585" y="0"/>
                </a:moveTo>
                <a:lnTo>
                  <a:pt x="5080001" y="0"/>
                </a:lnTo>
                <a:cubicBezTo>
                  <a:pt x="5098550" y="0"/>
                  <a:pt x="5113587" y="15037"/>
                  <a:pt x="5113587" y="33585"/>
                </a:cubicBezTo>
                <a:lnTo>
                  <a:pt x="5113587" y="293886"/>
                </a:lnTo>
                <a:cubicBezTo>
                  <a:pt x="5113587" y="312434"/>
                  <a:pt x="5098550" y="327471"/>
                  <a:pt x="5080001" y="327471"/>
                </a:cubicBezTo>
                <a:lnTo>
                  <a:pt x="33585" y="327471"/>
                </a:lnTo>
                <a:cubicBezTo>
                  <a:pt x="15037" y="327471"/>
                  <a:pt x="0" y="312434"/>
                  <a:pt x="0" y="293886"/>
                </a:cubicBezTo>
                <a:lnTo>
                  <a:pt x="0" y="33585"/>
                </a:lnTo>
                <a:cubicBezTo>
                  <a:pt x="0" y="15037"/>
                  <a:pt x="15037" y="0"/>
                  <a:pt x="33585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418" y="3803702"/>
            <a:ext cx="974017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Iceberg Catalog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529873" y="4143769"/>
            <a:ext cx="5113587" cy="327471"/>
          </a:xfrm>
          <a:custGeom>
            <a:avLst/>
            <a:gdLst/>
            <a:ahLst/>
            <a:cxnLst/>
            <a:rect l="l" t="t" r="r" b="b"/>
            <a:pathLst>
              <a:path w="5113587" h="327471">
                <a:moveTo>
                  <a:pt x="33585" y="0"/>
                </a:moveTo>
                <a:lnTo>
                  <a:pt x="5080001" y="0"/>
                </a:lnTo>
                <a:cubicBezTo>
                  <a:pt x="5098550" y="0"/>
                  <a:pt x="5113587" y="15037"/>
                  <a:pt x="5113587" y="33585"/>
                </a:cubicBezTo>
                <a:lnTo>
                  <a:pt x="5113587" y="293886"/>
                </a:lnTo>
                <a:cubicBezTo>
                  <a:pt x="5113587" y="312434"/>
                  <a:pt x="5098550" y="327471"/>
                  <a:pt x="5080001" y="327471"/>
                </a:cubicBezTo>
                <a:lnTo>
                  <a:pt x="33585" y="327471"/>
                </a:lnTo>
                <a:cubicBezTo>
                  <a:pt x="15037" y="327471"/>
                  <a:pt x="0" y="312434"/>
                  <a:pt x="0" y="293886"/>
                </a:cubicBezTo>
                <a:lnTo>
                  <a:pt x="0" y="33585"/>
                </a:lnTo>
                <a:cubicBezTo>
                  <a:pt x="0" y="15037"/>
                  <a:pt x="15037" y="0"/>
                  <a:pt x="33585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68418" y="4206744"/>
            <a:ext cx="1066380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Setup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968344" y="4769322"/>
            <a:ext cx="422983" cy="146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8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534071" y="4651769"/>
            <a:ext cx="5105190" cy="386248"/>
          </a:xfrm>
          <a:custGeom>
            <a:avLst/>
            <a:gdLst/>
            <a:ahLst/>
            <a:cxnLst/>
            <a:rect l="l" t="t" r="r" b="b"/>
            <a:pathLst>
              <a:path w="5105190" h="386248">
                <a:moveTo>
                  <a:pt x="33588" y="0"/>
                </a:moveTo>
                <a:lnTo>
                  <a:pt x="5071602" y="0"/>
                </a:lnTo>
                <a:cubicBezTo>
                  <a:pt x="5090152" y="0"/>
                  <a:pt x="5105190" y="15038"/>
                  <a:pt x="5105190" y="33588"/>
                </a:cubicBezTo>
                <a:lnTo>
                  <a:pt x="5105190" y="352660"/>
                </a:lnTo>
                <a:cubicBezTo>
                  <a:pt x="5105190" y="371198"/>
                  <a:pt x="5090140" y="386248"/>
                  <a:pt x="5071602" y="386248"/>
                </a:cubicBezTo>
                <a:lnTo>
                  <a:pt x="33588" y="386248"/>
                </a:lnTo>
                <a:cubicBezTo>
                  <a:pt x="15038" y="386248"/>
                  <a:pt x="0" y="371210"/>
                  <a:pt x="0" y="352660"/>
                </a:cubicBezTo>
                <a:lnTo>
                  <a:pt x="0" y="33588"/>
                </a:lnTo>
                <a:cubicBezTo>
                  <a:pt x="0" y="15038"/>
                  <a:pt x="15038" y="0"/>
                  <a:pt x="33588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25400">
            <a:solidFill>
              <a:srgbClr val="C9A86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6815" y="4744132"/>
            <a:ext cx="1586975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Production-ready pipeline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123427" y="6274430"/>
            <a:ext cx="6734149" cy="579372"/>
          </a:xfrm>
          <a:custGeom>
            <a:avLst/>
            <a:gdLst/>
            <a:ahLst/>
            <a:cxnLst/>
            <a:rect l="l" t="t" r="r" b="b"/>
            <a:pathLst>
              <a:path w="6734149" h="579372">
                <a:moveTo>
                  <a:pt x="0" y="0"/>
                </a:moveTo>
                <a:lnTo>
                  <a:pt x="6666976" y="0"/>
                </a:lnTo>
                <a:cubicBezTo>
                  <a:pt x="6704075" y="0"/>
                  <a:pt x="6734149" y="30074"/>
                  <a:pt x="6734149" y="67172"/>
                </a:cubicBezTo>
                <a:lnTo>
                  <a:pt x="6734149" y="512200"/>
                </a:lnTo>
                <a:cubicBezTo>
                  <a:pt x="6734149" y="549298"/>
                  <a:pt x="6704075" y="579372"/>
                  <a:pt x="6666976" y="579372"/>
                </a:cubicBezTo>
                <a:lnTo>
                  <a:pt x="0" y="579372"/>
                </a:lnTo>
                <a:lnTo>
                  <a:pt x="0" y="0"/>
                </a:lnTo>
                <a:close/>
              </a:path>
            </a:pathLst>
          </a:custGeom>
          <a:solidFill>
            <a:srgbClr val="C9A86A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123427" y="6274430"/>
            <a:ext cx="33587" cy="579372"/>
          </a:xfrm>
          <a:custGeom>
            <a:avLst/>
            <a:gdLst/>
            <a:ahLst/>
            <a:cxnLst/>
            <a:rect l="l" t="t" r="r" b="b"/>
            <a:pathLst>
              <a:path w="33587" h="579372">
                <a:moveTo>
                  <a:pt x="0" y="0"/>
                </a:moveTo>
                <a:lnTo>
                  <a:pt x="33587" y="0"/>
                </a:lnTo>
                <a:lnTo>
                  <a:pt x="33587" y="579372"/>
                </a:lnTo>
                <a:lnTo>
                  <a:pt x="0" y="579372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52" name="Shape 50"/>
          <p:cNvSpPr/>
          <p:nvPr/>
        </p:nvSpPr>
        <p:spPr>
          <a:xfrm>
            <a:off x="5333344" y="6475950"/>
            <a:ext cx="201521" cy="201521"/>
          </a:xfrm>
          <a:custGeom>
            <a:avLst/>
            <a:gdLst/>
            <a:ahLst/>
            <a:cxnLst/>
            <a:rect l="l" t="t" r="r" b="b"/>
            <a:pathLst>
              <a:path w="201521" h="201521">
                <a:moveTo>
                  <a:pt x="50380" y="125950"/>
                </a:moveTo>
                <a:lnTo>
                  <a:pt x="9643" y="125950"/>
                </a:lnTo>
                <a:cubicBezTo>
                  <a:pt x="-157" y="125950"/>
                  <a:pt x="-6179" y="115284"/>
                  <a:pt x="-1141" y="106861"/>
                </a:cubicBezTo>
                <a:lnTo>
                  <a:pt x="19680" y="72146"/>
                </a:lnTo>
                <a:cubicBezTo>
                  <a:pt x="23104" y="66439"/>
                  <a:pt x="29244" y="62975"/>
                  <a:pt x="35896" y="62975"/>
                </a:cubicBezTo>
                <a:lnTo>
                  <a:pt x="73287" y="62975"/>
                </a:lnTo>
                <a:cubicBezTo>
                  <a:pt x="103240" y="12241"/>
                  <a:pt x="147913" y="9682"/>
                  <a:pt x="177787" y="14051"/>
                </a:cubicBezTo>
                <a:cubicBezTo>
                  <a:pt x="182825" y="14799"/>
                  <a:pt x="186761" y="18735"/>
                  <a:pt x="187469" y="23734"/>
                </a:cubicBezTo>
                <a:cubicBezTo>
                  <a:pt x="191838" y="53608"/>
                  <a:pt x="189280" y="98281"/>
                  <a:pt x="138545" y="128233"/>
                </a:cubicBezTo>
                <a:lnTo>
                  <a:pt x="138545" y="165625"/>
                </a:lnTo>
                <a:cubicBezTo>
                  <a:pt x="138545" y="172277"/>
                  <a:pt x="135082" y="178417"/>
                  <a:pt x="129375" y="181841"/>
                </a:cubicBezTo>
                <a:lnTo>
                  <a:pt x="94660" y="202662"/>
                </a:lnTo>
                <a:cubicBezTo>
                  <a:pt x="86276" y="207700"/>
                  <a:pt x="75570" y="201639"/>
                  <a:pt x="75570" y="191878"/>
                </a:cubicBezTo>
                <a:lnTo>
                  <a:pt x="75570" y="151140"/>
                </a:lnTo>
                <a:cubicBezTo>
                  <a:pt x="75570" y="137247"/>
                  <a:pt x="64274" y="125950"/>
                  <a:pt x="50380" y="125950"/>
                </a:cubicBezTo>
                <a:lnTo>
                  <a:pt x="50341" y="125950"/>
                </a:lnTo>
                <a:close/>
                <a:moveTo>
                  <a:pt x="157438" y="62975"/>
                </a:moveTo>
                <a:cubicBezTo>
                  <a:pt x="157438" y="52548"/>
                  <a:pt x="148973" y="44083"/>
                  <a:pt x="138545" y="44083"/>
                </a:cubicBezTo>
                <a:cubicBezTo>
                  <a:pt x="128118" y="44083"/>
                  <a:pt x="119653" y="52548"/>
                  <a:pt x="119653" y="62975"/>
                </a:cubicBezTo>
                <a:cubicBezTo>
                  <a:pt x="119653" y="73402"/>
                  <a:pt x="128118" y="81868"/>
                  <a:pt x="138545" y="81868"/>
                </a:cubicBezTo>
                <a:cubicBezTo>
                  <a:pt x="148973" y="81868"/>
                  <a:pt x="157438" y="73402"/>
                  <a:pt x="157438" y="62975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53" name="Text 51"/>
          <p:cNvSpPr/>
          <p:nvPr/>
        </p:nvSpPr>
        <p:spPr>
          <a:xfrm>
            <a:off x="5660815" y="6442364"/>
            <a:ext cx="4483835" cy="24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Message: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is moving from </a:t>
            </a:r>
            <a:pPr>
              <a:lnSpc>
                <a:spcPct val="140000"/>
              </a:lnSpc>
            </a:pPr>
            <a:r>
              <a:rPr lang="en-US" sz="119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answering questions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</a:t>
            </a:r>
            <a:pPr>
              <a:lnSpc>
                <a:spcPct val="140000"/>
              </a:lnSpc>
            </a:pPr>
            <a:r>
              <a:rPr lang="en-US" sz="1190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executing tasks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Concerns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Risks Introduced by Agentic AI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76363"/>
            <a:ext cx="3228975" cy="2447925"/>
          </a:xfrm>
          <a:custGeom>
            <a:avLst/>
            <a:gdLst/>
            <a:ahLst/>
            <a:cxnLst/>
            <a:rect l="l" t="t" r="r" b="b"/>
            <a:pathLst>
              <a:path w="3228975" h="2447925">
                <a:moveTo>
                  <a:pt x="76204" y="0"/>
                </a:moveTo>
                <a:lnTo>
                  <a:pt x="3152771" y="0"/>
                </a:lnTo>
                <a:cubicBezTo>
                  <a:pt x="3194857" y="0"/>
                  <a:pt x="3228975" y="34118"/>
                  <a:pt x="3228975" y="76204"/>
                </a:cubicBezTo>
                <a:lnTo>
                  <a:pt x="3228975" y="2371721"/>
                </a:lnTo>
                <a:cubicBezTo>
                  <a:pt x="3228975" y="2413807"/>
                  <a:pt x="3194857" y="2447925"/>
                  <a:pt x="3152771" y="2447925"/>
                </a:cubicBezTo>
                <a:lnTo>
                  <a:pt x="76204" y="2447925"/>
                </a:lnTo>
                <a:cubicBezTo>
                  <a:pt x="34118" y="2447925"/>
                  <a:pt x="0" y="2413807"/>
                  <a:pt x="0" y="2371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5059">
              <a:alpha val="20000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125" y="1609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0569" y="17430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-5953"/>
                </a:moveTo>
                <a:cubicBezTo>
                  <a:pt x="113742" y="-5953"/>
                  <a:pt x="119063" y="-633"/>
                  <a:pt x="119063" y="5953"/>
                </a:cubicBezTo>
                <a:lnTo>
                  <a:pt x="119063" y="12762"/>
                </a:lnTo>
                <a:cubicBezTo>
                  <a:pt x="155563" y="17971"/>
                  <a:pt x="184435" y="46844"/>
                  <a:pt x="189644" y="83344"/>
                </a:cubicBezTo>
                <a:lnTo>
                  <a:pt x="196453" y="83344"/>
                </a:lnTo>
                <a:cubicBezTo>
                  <a:pt x="203039" y="83344"/>
                  <a:pt x="208359" y="88664"/>
                  <a:pt x="208359" y="95250"/>
                </a:cubicBezTo>
                <a:cubicBezTo>
                  <a:pt x="208359" y="101836"/>
                  <a:pt x="203039" y="107156"/>
                  <a:pt x="196453" y="107156"/>
                </a:cubicBezTo>
                <a:lnTo>
                  <a:pt x="189644" y="107156"/>
                </a:lnTo>
                <a:cubicBezTo>
                  <a:pt x="184435" y="143656"/>
                  <a:pt x="155563" y="172529"/>
                  <a:pt x="119063" y="177738"/>
                </a:cubicBezTo>
                <a:lnTo>
                  <a:pt x="119063" y="184547"/>
                </a:lnTo>
                <a:cubicBezTo>
                  <a:pt x="119063" y="191133"/>
                  <a:pt x="113742" y="196453"/>
                  <a:pt x="107156" y="196453"/>
                </a:cubicBezTo>
                <a:cubicBezTo>
                  <a:pt x="100571" y="196453"/>
                  <a:pt x="95250" y="191133"/>
                  <a:pt x="95250" y="184547"/>
                </a:cubicBezTo>
                <a:lnTo>
                  <a:pt x="95250" y="177738"/>
                </a:lnTo>
                <a:cubicBezTo>
                  <a:pt x="58750" y="172529"/>
                  <a:pt x="29877" y="143656"/>
                  <a:pt x="24668" y="107156"/>
                </a:cubicBezTo>
                <a:lnTo>
                  <a:pt x="17859" y="107156"/>
                </a:lnTo>
                <a:cubicBezTo>
                  <a:pt x="11274" y="107156"/>
                  <a:pt x="5953" y="101836"/>
                  <a:pt x="5953" y="95250"/>
                </a:cubicBezTo>
                <a:cubicBezTo>
                  <a:pt x="5953" y="88664"/>
                  <a:pt x="11274" y="83344"/>
                  <a:pt x="17859" y="83344"/>
                </a:cubicBezTo>
                <a:lnTo>
                  <a:pt x="24668" y="83344"/>
                </a:lnTo>
                <a:cubicBezTo>
                  <a:pt x="29877" y="46844"/>
                  <a:pt x="58750" y="17971"/>
                  <a:pt x="95250" y="12762"/>
                </a:cubicBezTo>
                <a:lnTo>
                  <a:pt x="95250" y="5953"/>
                </a:lnTo>
                <a:cubicBezTo>
                  <a:pt x="95250" y="-633"/>
                  <a:pt x="100571" y="-5953"/>
                  <a:pt x="107156" y="-5953"/>
                </a:cubicBezTo>
                <a:close/>
                <a:moveTo>
                  <a:pt x="48816" y="107156"/>
                </a:moveTo>
                <a:cubicBezTo>
                  <a:pt x="53541" y="130485"/>
                  <a:pt x="71921" y="148865"/>
                  <a:pt x="95250" y="153591"/>
                </a:cubicBezTo>
                <a:lnTo>
                  <a:pt x="95250" y="148828"/>
                </a:lnTo>
                <a:cubicBezTo>
                  <a:pt x="95250" y="142242"/>
                  <a:pt x="100571" y="136922"/>
                  <a:pt x="107156" y="136922"/>
                </a:cubicBezTo>
                <a:cubicBezTo>
                  <a:pt x="113742" y="136922"/>
                  <a:pt x="119063" y="142242"/>
                  <a:pt x="119063" y="148828"/>
                </a:cubicBezTo>
                <a:lnTo>
                  <a:pt x="119063" y="153591"/>
                </a:lnTo>
                <a:cubicBezTo>
                  <a:pt x="142391" y="148865"/>
                  <a:pt x="160772" y="130485"/>
                  <a:pt x="165497" y="107156"/>
                </a:cubicBezTo>
                <a:lnTo>
                  <a:pt x="160734" y="107156"/>
                </a:lnTo>
                <a:cubicBezTo>
                  <a:pt x="154149" y="107156"/>
                  <a:pt x="148828" y="101836"/>
                  <a:pt x="148828" y="95250"/>
                </a:cubicBezTo>
                <a:cubicBezTo>
                  <a:pt x="148828" y="88664"/>
                  <a:pt x="154149" y="83344"/>
                  <a:pt x="160734" y="83344"/>
                </a:cubicBezTo>
                <a:lnTo>
                  <a:pt x="165497" y="83344"/>
                </a:lnTo>
                <a:cubicBezTo>
                  <a:pt x="160772" y="60015"/>
                  <a:pt x="142391" y="41635"/>
                  <a:pt x="119063" y="36909"/>
                </a:cubicBezTo>
                <a:lnTo>
                  <a:pt x="119063" y="41672"/>
                </a:lnTo>
                <a:cubicBezTo>
                  <a:pt x="119063" y="48258"/>
                  <a:pt x="113742" y="53578"/>
                  <a:pt x="107156" y="53578"/>
                </a:cubicBezTo>
                <a:cubicBezTo>
                  <a:pt x="100571" y="53578"/>
                  <a:pt x="95250" y="48258"/>
                  <a:pt x="95250" y="41672"/>
                </a:cubicBezTo>
                <a:lnTo>
                  <a:pt x="95250" y="36909"/>
                </a:lnTo>
                <a:cubicBezTo>
                  <a:pt x="71921" y="41635"/>
                  <a:pt x="53541" y="60015"/>
                  <a:pt x="48816" y="83344"/>
                </a:cubicBezTo>
                <a:lnTo>
                  <a:pt x="53578" y="83344"/>
                </a:lnTo>
                <a:cubicBezTo>
                  <a:pt x="60164" y="83344"/>
                  <a:pt x="65484" y="88664"/>
                  <a:pt x="65484" y="95250"/>
                </a:cubicBezTo>
                <a:cubicBezTo>
                  <a:pt x="65484" y="101836"/>
                  <a:pt x="60164" y="107156"/>
                  <a:pt x="53578" y="107156"/>
                </a:cubicBezTo>
                <a:lnTo>
                  <a:pt x="48816" y="107156"/>
                </a:lnTo>
                <a:close/>
                <a:moveTo>
                  <a:pt x="107156" y="77391"/>
                </a:moveTo>
                <a:cubicBezTo>
                  <a:pt x="117013" y="77391"/>
                  <a:pt x="125016" y="85393"/>
                  <a:pt x="125016" y="95250"/>
                </a:cubicBezTo>
                <a:cubicBezTo>
                  <a:pt x="125016" y="105107"/>
                  <a:pt x="117013" y="113109"/>
                  <a:pt x="107156" y="113109"/>
                </a:cubicBezTo>
                <a:cubicBezTo>
                  <a:pt x="97299" y="113109"/>
                  <a:pt x="89297" y="105107"/>
                  <a:pt x="89297" y="95250"/>
                </a:cubicBezTo>
                <a:cubicBezTo>
                  <a:pt x="89297" y="85393"/>
                  <a:pt x="97299" y="77391"/>
                  <a:pt x="107156" y="77391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7" name="Text 5"/>
          <p:cNvSpPr/>
          <p:nvPr/>
        </p:nvSpPr>
        <p:spPr>
          <a:xfrm>
            <a:off x="1190625" y="1704975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 Misalignment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9125" y="2219325"/>
            <a:ext cx="28384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optimizes for wrong objectives or misinterprets user intent, leading to unintended outcomes.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125" y="3243263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  <a:lnTo>
                  <a:pt x="27622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059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38175" y="342423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6675" y="35421"/>
                </a:moveTo>
                <a:cubicBezTo>
                  <a:pt x="70139" y="35421"/>
                  <a:pt x="72926" y="38208"/>
                  <a:pt x="72926" y="41672"/>
                </a:cubicBezTo>
                <a:lnTo>
                  <a:pt x="72926" y="70842"/>
                </a:lnTo>
                <a:cubicBezTo>
                  <a:pt x="72926" y="74306"/>
                  <a:pt x="70139" y="77093"/>
                  <a:pt x="66675" y="77093"/>
                </a:cubicBezTo>
                <a:cubicBezTo>
                  <a:pt x="63211" y="77093"/>
                  <a:pt x="60424" y="74306"/>
                  <a:pt x="60424" y="70842"/>
                </a:cubicBezTo>
                <a:lnTo>
                  <a:pt x="60424" y="41672"/>
                </a:lnTo>
                <a:cubicBezTo>
                  <a:pt x="60424" y="38208"/>
                  <a:pt x="63211" y="35421"/>
                  <a:pt x="66675" y="35421"/>
                </a:cubicBezTo>
                <a:close/>
                <a:moveTo>
                  <a:pt x="59721" y="91678"/>
                </a:moveTo>
                <a:cubicBezTo>
                  <a:pt x="59563" y="89097"/>
                  <a:pt x="60850" y="86641"/>
                  <a:pt x="63063" y="85303"/>
                </a:cubicBezTo>
                <a:cubicBezTo>
                  <a:pt x="65276" y="83964"/>
                  <a:pt x="68048" y="83964"/>
                  <a:pt x="70261" y="85303"/>
                </a:cubicBezTo>
                <a:cubicBezTo>
                  <a:pt x="72474" y="86641"/>
                  <a:pt x="73761" y="89097"/>
                  <a:pt x="73603" y="91678"/>
                </a:cubicBezTo>
                <a:cubicBezTo>
                  <a:pt x="73761" y="94259"/>
                  <a:pt x="72474" y="96715"/>
                  <a:pt x="70261" y="98054"/>
                </a:cubicBezTo>
                <a:cubicBezTo>
                  <a:pt x="68048" y="99392"/>
                  <a:pt x="65276" y="99392"/>
                  <a:pt x="63063" y="98054"/>
                </a:cubicBezTo>
                <a:cubicBezTo>
                  <a:pt x="60850" y="96715"/>
                  <a:pt x="59563" y="94259"/>
                  <a:pt x="59721" y="91678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1" name="Text 9"/>
          <p:cNvSpPr/>
          <p:nvPr/>
        </p:nvSpPr>
        <p:spPr>
          <a:xfrm>
            <a:off x="847725" y="3400425"/>
            <a:ext cx="2600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Deletes wrong data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8558" y="1376363"/>
            <a:ext cx="3228975" cy="2447925"/>
          </a:xfrm>
          <a:custGeom>
            <a:avLst/>
            <a:gdLst/>
            <a:ahLst/>
            <a:cxnLst/>
            <a:rect l="l" t="t" r="r" b="b"/>
            <a:pathLst>
              <a:path w="3228975" h="2447925">
                <a:moveTo>
                  <a:pt x="76204" y="0"/>
                </a:moveTo>
                <a:lnTo>
                  <a:pt x="3152771" y="0"/>
                </a:lnTo>
                <a:cubicBezTo>
                  <a:pt x="3194857" y="0"/>
                  <a:pt x="3228975" y="34118"/>
                  <a:pt x="3228975" y="76204"/>
                </a:cubicBezTo>
                <a:lnTo>
                  <a:pt x="3228975" y="2371721"/>
                </a:lnTo>
                <a:cubicBezTo>
                  <a:pt x="3228975" y="2413807"/>
                  <a:pt x="3194857" y="2447925"/>
                  <a:pt x="3152771" y="2447925"/>
                </a:cubicBezTo>
                <a:lnTo>
                  <a:pt x="76204" y="2447925"/>
                </a:lnTo>
                <a:cubicBezTo>
                  <a:pt x="34118" y="2447925"/>
                  <a:pt x="0" y="2413807"/>
                  <a:pt x="0" y="2371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5059">
              <a:alpha val="20000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51920" y="1609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173364" y="17430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5" name="Text 13"/>
          <p:cNvSpPr/>
          <p:nvPr/>
        </p:nvSpPr>
        <p:spPr>
          <a:xfrm>
            <a:off x="4623420" y="1704975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 Misuse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51920" y="2219325"/>
            <a:ext cx="28384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Incorrect tool selection or parameter values causing system errors or data corruption.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51920" y="3243263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  <a:lnTo>
                  <a:pt x="27622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059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70970" y="342423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6675" y="35421"/>
                </a:moveTo>
                <a:cubicBezTo>
                  <a:pt x="70139" y="35421"/>
                  <a:pt x="72926" y="38208"/>
                  <a:pt x="72926" y="41672"/>
                </a:cubicBezTo>
                <a:lnTo>
                  <a:pt x="72926" y="70842"/>
                </a:lnTo>
                <a:cubicBezTo>
                  <a:pt x="72926" y="74306"/>
                  <a:pt x="70139" y="77093"/>
                  <a:pt x="66675" y="77093"/>
                </a:cubicBezTo>
                <a:cubicBezTo>
                  <a:pt x="63211" y="77093"/>
                  <a:pt x="60424" y="74306"/>
                  <a:pt x="60424" y="70842"/>
                </a:cubicBezTo>
                <a:lnTo>
                  <a:pt x="60424" y="41672"/>
                </a:lnTo>
                <a:cubicBezTo>
                  <a:pt x="60424" y="38208"/>
                  <a:pt x="63211" y="35421"/>
                  <a:pt x="66675" y="35421"/>
                </a:cubicBezTo>
                <a:close/>
                <a:moveTo>
                  <a:pt x="59721" y="91678"/>
                </a:moveTo>
                <a:cubicBezTo>
                  <a:pt x="59563" y="89097"/>
                  <a:pt x="60850" y="86641"/>
                  <a:pt x="63063" y="85303"/>
                </a:cubicBezTo>
                <a:cubicBezTo>
                  <a:pt x="65276" y="83964"/>
                  <a:pt x="68048" y="83964"/>
                  <a:pt x="70261" y="85303"/>
                </a:cubicBezTo>
                <a:cubicBezTo>
                  <a:pt x="72474" y="86641"/>
                  <a:pt x="73761" y="89097"/>
                  <a:pt x="73603" y="91678"/>
                </a:cubicBezTo>
                <a:cubicBezTo>
                  <a:pt x="73761" y="94259"/>
                  <a:pt x="72474" y="96715"/>
                  <a:pt x="70261" y="98054"/>
                </a:cubicBezTo>
                <a:cubicBezTo>
                  <a:pt x="68048" y="99392"/>
                  <a:pt x="65276" y="99392"/>
                  <a:pt x="63063" y="98054"/>
                </a:cubicBezTo>
                <a:cubicBezTo>
                  <a:pt x="60850" y="96715"/>
                  <a:pt x="59563" y="94259"/>
                  <a:pt x="59721" y="91678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9" name="Text 17"/>
          <p:cNvSpPr/>
          <p:nvPr/>
        </p:nvSpPr>
        <p:spPr>
          <a:xfrm>
            <a:off x="4280520" y="3400425"/>
            <a:ext cx="2600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Wrong API endpoint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4024313"/>
            <a:ext cx="3228975" cy="2447925"/>
          </a:xfrm>
          <a:custGeom>
            <a:avLst/>
            <a:gdLst/>
            <a:ahLst/>
            <a:cxnLst/>
            <a:rect l="l" t="t" r="r" b="b"/>
            <a:pathLst>
              <a:path w="3228975" h="2447925">
                <a:moveTo>
                  <a:pt x="76204" y="0"/>
                </a:moveTo>
                <a:lnTo>
                  <a:pt x="3152771" y="0"/>
                </a:lnTo>
                <a:cubicBezTo>
                  <a:pt x="3194857" y="0"/>
                  <a:pt x="3228975" y="34118"/>
                  <a:pt x="3228975" y="76204"/>
                </a:cubicBezTo>
                <a:lnTo>
                  <a:pt x="3228975" y="2371721"/>
                </a:lnTo>
                <a:cubicBezTo>
                  <a:pt x="3228975" y="2413807"/>
                  <a:pt x="3194857" y="2447925"/>
                  <a:pt x="3152771" y="2447925"/>
                </a:cubicBezTo>
                <a:lnTo>
                  <a:pt x="76204" y="2447925"/>
                </a:lnTo>
                <a:cubicBezTo>
                  <a:pt x="34118" y="2447925"/>
                  <a:pt x="0" y="2413807"/>
                  <a:pt x="0" y="2371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5059">
              <a:alpha val="20000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125" y="4257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64381" y="43910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3" name="Text 21"/>
          <p:cNvSpPr/>
          <p:nvPr/>
        </p:nvSpPr>
        <p:spPr>
          <a:xfrm>
            <a:off x="1190625" y="4352925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Poisoning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9125" y="4867275"/>
            <a:ext cx="28384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Malicious or incorrect information in context memory affects future decisions and actions.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125" y="5891213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  <a:lnTo>
                  <a:pt x="27622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059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38175" y="607218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6675" y="35421"/>
                </a:moveTo>
                <a:cubicBezTo>
                  <a:pt x="70139" y="35421"/>
                  <a:pt x="72926" y="38208"/>
                  <a:pt x="72926" y="41672"/>
                </a:cubicBezTo>
                <a:lnTo>
                  <a:pt x="72926" y="70842"/>
                </a:lnTo>
                <a:cubicBezTo>
                  <a:pt x="72926" y="74306"/>
                  <a:pt x="70139" y="77093"/>
                  <a:pt x="66675" y="77093"/>
                </a:cubicBezTo>
                <a:cubicBezTo>
                  <a:pt x="63211" y="77093"/>
                  <a:pt x="60424" y="74306"/>
                  <a:pt x="60424" y="70842"/>
                </a:cubicBezTo>
                <a:lnTo>
                  <a:pt x="60424" y="41672"/>
                </a:lnTo>
                <a:cubicBezTo>
                  <a:pt x="60424" y="38208"/>
                  <a:pt x="63211" y="35421"/>
                  <a:pt x="66675" y="35421"/>
                </a:cubicBezTo>
                <a:close/>
                <a:moveTo>
                  <a:pt x="59721" y="91678"/>
                </a:moveTo>
                <a:cubicBezTo>
                  <a:pt x="59563" y="89097"/>
                  <a:pt x="60850" y="86641"/>
                  <a:pt x="63063" y="85303"/>
                </a:cubicBezTo>
                <a:cubicBezTo>
                  <a:pt x="65276" y="83964"/>
                  <a:pt x="68048" y="83964"/>
                  <a:pt x="70261" y="85303"/>
                </a:cubicBezTo>
                <a:cubicBezTo>
                  <a:pt x="72474" y="86641"/>
                  <a:pt x="73761" y="89097"/>
                  <a:pt x="73603" y="91678"/>
                </a:cubicBezTo>
                <a:cubicBezTo>
                  <a:pt x="73761" y="94259"/>
                  <a:pt x="72474" y="96715"/>
                  <a:pt x="70261" y="98054"/>
                </a:cubicBezTo>
                <a:cubicBezTo>
                  <a:pt x="68048" y="99392"/>
                  <a:pt x="65276" y="99392"/>
                  <a:pt x="63063" y="98054"/>
                </a:cubicBezTo>
                <a:cubicBezTo>
                  <a:pt x="60850" y="96715"/>
                  <a:pt x="59563" y="94259"/>
                  <a:pt x="59721" y="91678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7" name="Text 25"/>
          <p:cNvSpPr/>
          <p:nvPr/>
        </p:nvSpPr>
        <p:spPr>
          <a:xfrm>
            <a:off x="847725" y="6048375"/>
            <a:ext cx="2600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Corrupted context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8558" y="4024313"/>
            <a:ext cx="3228975" cy="2447925"/>
          </a:xfrm>
          <a:custGeom>
            <a:avLst/>
            <a:gdLst/>
            <a:ahLst/>
            <a:cxnLst/>
            <a:rect l="l" t="t" r="r" b="b"/>
            <a:pathLst>
              <a:path w="3228975" h="2447925">
                <a:moveTo>
                  <a:pt x="76204" y="0"/>
                </a:moveTo>
                <a:lnTo>
                  <a:pt x="3152771" y="0"/>
                </a:lnTo>
                <a:cubicBezTo>
                  <a:pt x="3194857" y="0"/>
                  <a:pt x="3228975" y="34118"/>
                  <a:pt x="3228975" y="76204"/>
                </a:cubicBezTo>
                <a:lnTo>
                  <a:pt x="3228975" y="2371721"/>
                </a:lnTo>
                <a:cubicBezTo>
                  <a:pt x="3228975" y="2413807"/>
                  <a:pt x="3194857" y="2447925"/>
                  <a:pt x="3152771" y="2447925"/>
                </a:cubicBezTo>
                <a:lnTo>
                  <a:pt x="76204" y="2447925"/>
                </a:lnTo>
                <a:cubicBezTo>
                  <a:pt x="34118" y="2447925"/>
                  <a:pt x="0" y="2413807"/>
                  <a:pt x="0" y="2371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5059">
              <a:alpha val="20000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51920" y="4257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185270" y="43910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0242" y="12799"/>
                </a:moveTo>
                <a:cubicBezTo>
                  <a:pt x="154707" y="10939"/>
                  <a:pt x="159804" y="11981"/>
                  <a:pt x="163227" y="15367"/>
                </a:cubicBezTo>
                <a:lnTo>
                  <a:pt x="187040" y="39179"/>
                </a:lnTo>
                <a:cubicBezTo>
                  <a:pt x="189272" y="41411"/>
                  <a:pt x="190537" y="44425"/>
                  <a:pt x="190537" y="47588"/>
                </a:cubicBezTo>
                <a:cubicBezTo>
                  <a:pt x="190537" y="50750"/>
                  <a:pt x="189272" y="53764"/>
                  <a:pt x="187040" y="55997"/>
                </a:cubicBezTo>
                <a:lnTo>
                  <a:pt x="163227" y="79809"/>
                </a:lnTo>
                <a:cubicBezTo>
                  <a:pt x="159804" y="83232"/>
                  <a:pt x="154707" y="84237"/>
                  <a:pt x="150242" y="82376"/>
                </a:cubicBezTo>
                <a:cubicBezTo>
                  <a:pt x="145777" y="80516"/>
                  <a:pt x="142875" y="76237"/>
                  <a:pt x="142875" y="71438"/>
                </a:cubicBezTo>
                <a:lnTo>
                  <a:pt x="142875" y="59531"/>
                </a:lnTo>
                <a:lnTo>
                  <a:pt x="130969" y="59531"/>
                </a:lnTo>
                <a:cubicBezTo>
                  <a:pt x="127211" y="59531"/>
                  <a:pt x="123676" y="61280"/>
                  <a:pt x="121444" y="64294"/>
                </a:cubicBezTo>
                <a:lnTo>
                  <a:pt x="109389" y="80367"/>
                </a:lnTo>
                <a:lnTo>
                  <a:pt x="94506" y="60536"/>
                </a:lnTo>
                <a:lnTo>
                  <a:pt x="102394" y="50006"/>
                </a:lnTo>
                <a:cubicBezTo>
                  <a:pt x="109128" y="41002"/>
                  <a:pt x="119732" y="35719"/>
                  <a:pt x="130969" y="35719"/>
                </a:cubicBezTo>
                <a:lnTo>
                  <a:pt x="142875" y="35719"/>
                </a:lnTo>
                <a:lnTo>
                  <a:pt x="142875" y="23812"/>
                </a:lnTo>
                <a:cubicBezTo>
                  <a:pt x="142875" y="19013"/>
                  <a:pt x="145777" y="14660"/>
                  <a:pt x="150242" y="12799"/>
                </a:cubicBezTo>
                <a:close/>
                <a:moveTo>
                  <a:pt x="57299" y="110133"/>
                </a:moveTo>
                <a:lnTo>
                  <a:pt x="72182" y="129964"/>
                </a:lnTo>
                <a:lnTo>
                  <a:pt x="64294" y="140494"/>
                </a:lnTo>
                <a:cubicBezTo>
                  <a:pt x="57559" y="149498"/>
                  <a:pt x="46955" y="154781"/>
                  <a:pt x="35719" y="154781"/>
                </a:cubicBezTo>
                <a:lnTo>
                  <a:pt x="11906" y="154781"/>
                </a:lnTo>
                <a:cubicBezTo>
                  <a:pt x="5321" y="154781"/>
                  <a:pt x="0" y="149461"/>
                  <a:pt x="0" y="142875"/>
                </a:cubicBezTo>
                <a:cubicBezTo>
                  <a:pt x="0" y="136289"/>
                  <a:pt x="5321" y="130969"/>
                  <a:pt x="11906" y="130969"/>
                </a:cubicBezTo>
                <a:lnTo>
                  <a:pt x="35719" y="130969"/>
                </a:lnTo>
                <a:cubicBezTo>
                  <a:pt x="39477" y="130969"/>
                  <a:pt x="43011" y="129220"/>
                  <a:pt x="45244" y="126206"/>
                </a:cubicBezTo>
                <a:lnTo>
                  <a:pt x="57299" y="110133"/>
                </a:lnTo>
                <a:close/>
                <a:moveTo>
                  <a:pt x="163190" y="175096"/>
                </a:moveTo>
                <a:cubicBezTo>
                  <a:pt x="159767" y="178519"/>
                  <a:pt x="154670" y="179524"/>
                  <a:pt x="150205" y="177664"/>
                </a:cubicBezTo>
                <a:cubicBezTo>
                  <a:pt x="145740" y="175803"/>
                  <a:pt x="142875" y="171487"/>
                  <a:pt x="142875" y="166688"/>
                </a:cubicBezTo>
                <a:lnTo>
                  <a:pt x="142875" y="154781"/>
                </a:lnTo>
                <a:lnTo>
                  <a:pt x="130969" y="154781"/>
                </a:lnTo>
                <a:cubicBezTo>
                  <a:pt x="119732" y="154781"/>
                  <a:pt x="109128" y="149498"/>
                  <a:pt x="102394" y="140494"/>
                </a:cubicBezTo>
                <a:lnTo>
                  <a:pt x="45244" y="64294"/>
                </a:lnTo>
                <a:cubicBezTo>
                  <a:pt x="43011" y="61280"/>
                  <a:pt x="39477" y="59531"/>
                  <a:pt x="35719" y="59531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cubicBezTo>
                  <a:pt x="46955" y="35719"/>
                  <a:pt x="57559" y="41002"/>
                  <a:pt x="64294" y="50006"/>
                </a:cubicBezTo>
                <a:lnTo>
                  <a:pt x="121444" y="126206"/>
                </a:lnTo>
                <a:cubicBezTo>
                  <a:pt x="123676" y="129220"/>
                  <a:pt x="127211" y="130969"/>
                  <a:pt x="130969" y="130969"/>
                </a:cubicBezTo>
                <a:lnTo>
                  <a:pt x="142875" y="130969"/>
                </a:lnTo>
                <a:lnTo>
                  <a:pt x="142875" y="119063"/>
                </a:lnTo>
                <a:cubicBezTo>
                  <a:pt x="142875" y="114263"/>
                  <a:pt x="145777" y="109910"/>
                  <a:pt x="150242" y="108049"/>
                </a:cubicBezTo>
                <a:cubicBezTo>
                  <a:pt x="154707" y="106189"/>
                  <a:pt x="159804" y="107231"/>
                  <a:pt x="163227" y="110617"/>
                </a:cubicBezTo>
                <a:lnTo>
                  <a:pt x="187040" y="134429"/>
                </a:lnTo>
                <a:cubicBezTo>
                  <a:pt x="189272" y="136661"/>
                  <a:pt x="190537" y="139675"/>
                  <a:pt x="190537" y="142838"/>
                </a:cubicBezTo>
                <a:cubicBezTo>
                  <a:pt x="190537" y="146000"/>
                  <a:pt x="189272" y="149014"/>
                  <a:pt x="187040" y="151247"/>
                </a:cubicBezTo>
                <a:lnTo>
                  <a:pt x="163227" y="175059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1" name="Text 29"/>
          <p:cNvSpPr/>
          <p:nvPr/>
        </p:nvSpPr>
        <p:spPr>
          <a:xfrm>
            <a:off x="4623420" y="4352925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Instruction Conflicts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051920" y="4867275"/>
            <a:ext cx="28384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Conflicting or ambiguous instructions cause unpredictable behavior or system deadlocks.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051920" y="5891213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  <a:lnTo>
                  <a:pt x="27622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059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70970" y="607218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6675" y="35421"/>
                </a:moveTo>
                <a:cubicBezTo>
                  <a:pt x="70139" y="35421"/>
                  <a:pt x="72926" y="38208"/>
                  <a:pt x="72926" y="41672"/>
                </a:cubicBezTo>
                <a:lnTo>
                  <a:pt x="72926" y="70842"/>
                </a:lnTo>
                <a:cubicBezTo>
                  <a:pt x="72926" y="74306"/>
                  <a:pt x="70139" y="77093"/>
                  <a:pt x="66675" y="77093"/>
                </a:cubicBezTo>
                <a:cubicBezTo>
                  <a:pt x="63211" y="77093"/>
                  <a:pt x="60424" y="74306"/>
                  <a:pt x="60424" y="70842"/>
                </a:cubicBezTo>
                <a:lnTo>
                  <a:pt x="60424" y="41672"/>
                </a:lnTo>
                <a:cubicBezTo>
                  <a:pt x="60424" y="38208"/>
                  <a:pt x="63211" y="35421"/>
                  <a:pt x="66675" y="35421"/>
                </a:cubicBezTo>
                <a:close/>
                <a:moveTo>
                  <a:pt x="59721" y="91678"/>
                </a:moveTo>
                <a:cubicBezTo>
                  <a:pt x="59563" y="89097"/>
                  <a:pt x="60850" y="86641"/>
                  <a:pt x="63063" y="85303"/>
                </a:cubicBezTo>
                <a:cubicBezTo>
                  <a:pt x="65276" y="83964"/>
                  <a:pt x="68048" y="83964"/>
                  <a:pt x="70261" y="85303"/>
                </a:cubicBezTo>
                <a:cubicBezTo>
                  <a:pt x="72474" y="86641"/>
                  <a:pt x="73761" y="89097"/>
                  <a:pt x="73603" y="91678"/>
                </a:cubicBezTo>
                <a:cubicBezTo>
                  <a:pt x="73761" y="94259"/>
                  <a:pt x="72474" y="96715"/>
                  <a:pt x="70261" y="98054"/>
                </a:cubicBezTo>
                <a:cubicBezTo>
                  <a:pt x="68048" y="99392"/>
                  <a:pt x="65276" y="99392"/>
                  <a:pt x="63063" y="98054"/>
                </a:cubicBezTo>
                <a:cubicBezTo>
                  <a:pt x="60850" y="96715"/>
                  <a:pt x="59563" y="94259"/>
                  <a:pt x="59721" y="91678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5" name="Text 33"/>
          <p:cNvSpPr/>
          <p:nvPr/>
        </p:nvSpPr>
        <p:spPr>
          <a:xfrm>
            <a:off x="4280520" y="6048375"/>
            <a:ext cx="2600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Contradictory rules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70415" y="1381125"/>
            <a:ext cx="4429125" cy="3200400"/>
          </a:xfrm>
          <a:custGeom>
            <a:avLst/>
            <a:gdLst/>
            <a:ahLst/>
            <a:cxnLst/>
            <a:rect l="l" t="t" r="r" b="b"/>
            <a:pathLst>
              <a:path w="4429125" h="3200400">
                <a:moveTo>
                  <a:pt x="76202" y="0"/>
                </a:moveTo>
                <a:lnTo>
                  <a:pt x="4352923" y="0"/>
                </a:lnTo>
                <a:cubicBezTo>
                  <a:pt x="4395008" y="0"/>
                  <a:pt x="4429125" y="34117"/>
                  <a:pt x="4429125" y="76202"/>
                </a:cubicBezTo>
                <a:lnTo>
                  <a:pt x="4429125" y="3124198"/>
                </a:lnTo>
                <a:cubicBezTo>
                  <a:pt x="4429125" y="3166283"/>
                  <a:pt x="4395008" y="3200400"/>
                  <a:pt x="4352923" y="3200400"/>
                </a:cubicBezTo>
                <a:lnTo>
                  <a:pt x="76202" y="3200400"/>
                </a:lnTo>
                <a:cubicBezTo>
                  <a:pt x="34117" y="3200400"/>
                  <a:pt x="0" y="3166283"/>
                  <a:pt x="0" y="3124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25400">
            <a:solidFill>
              <a:srgbClr val="C9A8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08540" y="1619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8" name="Shape 36"/>
          <p:cNvSpPr/>
          <p:nvPr/>
        </p:nvSpPr>
        <p:spPr>
          <a:xfrm>
            <a:off x="7718078" y="17526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0" y="95250"/>
                </a:moveTo>
                <a:cubicBezTo>
                  <a:pt x="0" y="62359"/>
                  <a:pt x="26640" y="35719"/>
                  <a:pt x="59531" y="35719"/>
                </a:cubicBezTo>
                <a:cubicBezTo>
                  <a:pt x="78284" y="35719"/>
                  <a:pt x="95920" y="44537"/>
                  <a:pt x="107156" y="59531"/>
                </a:cubicBezTo>
                <a:lnTo>
                  <a:pt x="119063" y="75419"/>
                </a:lnTo>
                <a:lnTo>
                  <a:pt x="130969" y="59531"/>
                </a:lnTo>
                <a:cubicBezTo>
                  <a:pt x="142205" y="44537"/>
                  <a:pt x="159841" y="35719"/>
                  <a:pt x="178594" y="35719"/>
                </a:cubicBezTo>
                <a:cubicBezTo>
                  <a:pt x="211485" y="35719"/>
                  <a:pt x="238125" y="62359"/>
                  <a:pt x="238125" y="95250"/>
                </a:cubicBezTo>
                <a:cubicBezTo>
                  <a:pt x="238125" y="128141"/>
                  <a:pt x="211485" y="154781"/>
                  <a:pt x="178594" y="154781"/>
                </a:cubicBezTo>
                <a:cubicBezTo>
                  <a:pt x="159841" y="154781"/>
                  <a:pt x="142205" y="145963"/>
                  <a:pt x="130969" y="130969"/>
                </a:cubicBezTo>
                <a:lnTo>
                  <a:pt x="119063" y="115081"/>
                </a:lnTo>
                <a:lnTo>
                  <a:pt x="107156" y="130969"/>
                </a:lnTo>
                <a:cubicBezTo>
                  <a:pt x="95920" y="145963"/>
                  <a:pt x="78284" y="154781"/>
                  <a:pt x="59531" y="154781"/>
                </a:cubicBezTo>
                <a:cubicBezTo>
                  <a:pt x="26640" y="154781"/>
                  <a:pt x="0" y="128141"/>
                  <a:pt x="0" y="95250"/>
                </a:cubicBezTo>
                <a:close/>
                <a:moveTo>
                  <a:pt x="104180" y="95250"/>
                </a:moveTo>
                <a:lnTo>
                  <a:pt x="88106" y="73819"/>
                </a:lnTo>
                <a:cubicBezTo>
                  <a:pt x="81372" y="64815"/>
                  <a:pt x="70768" y="59531"/>
                  <a:pt x="59531" y="59531"/>
                </a:cubicBezTo>
                <a:cubicBezTo>
                  <a:pt x="39812" y="59531"/>
                  <a:pt x="23812" y="75530"/>
                  <a:pt x="23812" y="95250"/>
                </a:cubicBezTo>
                <a:cubicBezTo>
                  <a:pt x="23812" y="114970"/>
                  <a:pt x="39812" y="130969"/>
                  <a:pt x="59531" y="130969"/>
                </a:cubicBezTo>
                <a:cubicBezTo>
                  <a:pt x="70768" y="130969"/>
                  <a:pt x="81372" y="125685"/>
                  <a:pt x="88106" y="116681"/>
                </a:cubicBezTo>
                <a:lnTo>
                  <a:pt x="104180" y="95250"/>
                </a:lnTo>
                <a:close/>
                <a:moveTo>
                  <a:pt x="133945" y="95250"/>
                </a:moveTo>
                <a:lnTo>
                  <a:pt x="150019" y="116681"/>
                </a:lnTo>
                <a:cubicBezTo>
                  <a:pt x="156753" y="125685"/>
                  <a:pt x="167357" y="130969"/>
                  <a:pt x="178594" y="130969"/>
                </a:cubicBezTo>
                <a:cubicBezTo>
                  <a:pt x="198313" y="130969"/>
                  <a:pt x="214313" y="114970"/>
                  <a:pt x="214313" y="95250"/>
                </a:cubicBezTo>
                <a:cubicBezTo>
                  <a:pt x="214313" y="75530"/>
                  <a:pt x="198313" y="59531"/>
                  <a:pt x="178594" y="59531"/>
                </a:cubicBezTo>
                <a:cubicBezTo>
                  <a:pt x="167357" y="59531"/>
                  <a:pt x="156753" y="64815"/>
                  <a:pt x="150019" y="73819"/>
                </a:cubicBezTo>
                <a:lnTo>
                  <a:pt x="133945" y="9525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9" name="Text 37"/>
          <p:cNvSpPr/>
          <p:nvPr/>
        </p:nvSpPr>
        <p:spPr>
          <a:xfrm>
            <a:off x="8180040" y="1714500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Runaway Execution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08540" y="2228850"/>
            <a:ext cx="40290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Uncontrolled loops or excessive resource consumption without proper termination conditions.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627590" y="2905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2" name="Text 40"/>
          <p:cNvSpPr/>
          <p:nvPr/>
        </p:nvSpPr>
        <p:spPr>
          <a:xfrm>
            <a:off x="7851428" y="2876550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Infinite loops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627590" y="31718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4" name="Text 42"/>
          <p:cNvSpPr/>
          <p:nvPr/>
        </p:nvSpPr>
        <p:spPr>
          <a:xfrm>
            <a:off x="7851428" y="314325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exhaustion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627590" y="34385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6" name="Text 44"/>
          <p:cNvSpPr/>
          <p:nvPr/>
        </p:nvSpPr>
        <p:spPr>
          <a:xfrm>
            <a:off x="7851428" y="340995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Cascading failures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365653" y="4788694"/>
            <a:ext cx="4438650" cy="1685925"/>
          </a:xfrm>
          <a:custGeom>
            <a:avLst/>
            <a:gdLst/>
            <a:ahLst/>
            <a:cxnLst/>
            <a:rect l="l" t="t" r="r" b="b"/>
            <a:pathLst>
              <a:path w="4438650" h="1685925">
                <a:moveTo>
                  <a:pt x="76204" y="0"/>
                </a:moveTo>
                <a:lnTo>
                  <a:pt x="4362446" y="0"/>
                </a:lnTo>
                <a:cubicBezTo>
                  <a:pt x="4404532" y="0"/>
                  <a:pt x="4438650" y="34118"/>
                  <a:pt x="4438650" y="76204"/>
                </a:cubicBezTo>
                <a:lnTo>
                  <a:pt x="4438650" y="1609721"/>
                </a:lnTo>
                <a:cubicBezTo>
                  <a:pt x="4438650" y="1651807"/>
                  <a:pt x="4404532" y="1685925"/>
                  <a:pt x="4362446" y="1685925"/>
                </a:cubicBezTo>
                <a:lnTo>
                  <a:pt x="76204" y="1685925"/>
                </a:lnTo>
                <a:cubicBezTo>
                  <a:pt x="34118" y="1685925"/>
                  <a:pt x="0" y="1651807"/>
                  <a:pt x="0" y="1609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 w="12700">
            <a:solidFill>
              <a:srgbClr val="C9A86A">
                <a:alpha val="5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60915" y="502205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69709" y="1942"/>
                </a:moveTo>
                <a:cubicBezTo>
                  <a:pt x="166896" y="670"/>
                  <a:pt x="163882" y="0"/>
                  <a:pt x="160734" y="0"/>
                </a:cubicBezTo>
                <a:cubicBezTo>
                  <a:pt x="157587" y="0"/>
                  <a:pt x="154573" y="670"/>
                  <a:pt x="151760" y="1942"/>
                </a:cubicBezTo>
                <a:lnTo>
                  <a:pt x="25651" y="55453"/>
                </a:lnTo>
                <a:cubicBezTo>
                  <a:pt x="10917" y="61682"/>
                  <a:pt x="-67" y="76215"/>
                  <a:pt x="0" y="93762"/>
                </a:cubicBezTo>
                <a:cubicBezTo>
                  <a:pt x="335" y="160199"/>
                  <a:pt x="27660" y="281754"/>
                  <a:pt x="143054" y="337006"/>
                </a:cubicBezTo>
                <a:cubicBezTo>
                  <a:pt x="154238" y="342364"/>
                  <a:pt x="167231" y="342364"/>
                  <a:pt x="178415" y="337006"/>
                </a:cubicBezTo>
                <a:cubicBezTo>
                  <a:pt x="293876" y="281754"/>
                  <a:pt x="321201" y="160199"/>
                  <a:pt x="321469" y="93762"/>
                </a:cubicBezTo>
                <a:cubicBezTo>
                  <a:pt x="321536" y="76215"/>
                  <a:pt x="310552" y="61682"/>
                  <a:pt x="295818" y="55453"/>
                </a:cubicBezTo>
                <a:lnTo>
                  <a:pt x="169709" y="1942"/>
                </a:lnTo>
                <a:close/>
                <a:moveTo>
                  <a:pt x="160734" y="85725"/>
                </a:moveTo>
                <a:cubicBezTo>
                  <a:pt x="169642" y="85725"/>
                  <a:pt x="176808" y="92891"/>
                  <a:pt x="176808" y="101798"/>
                </a:cubicBezTo>
                <a:cubicBezTo>
                  <a:pt x="176808" y="117135"/>
                  <a:pt x="195359" y="124837"/>
                  <a:pt x="206209" y="113987"/>
                </a:cubicBezTo>
                <a:cubicBezTo>
                  <a:pt x="212504" y="107692"/>
                  <a:pt x="222684" y="107692"/>
                  <a:pt x="228913" y="113987"/>
                </a:cubicBezTo>
                <a:cubicBezTo>
                  <a:pt x="235141" y="120283"/>
                  <a:pt x="235208" y="130463"/>
                  <a:pt x="228913" y="136691"/>
                </a:cubicBezTo>
                <a:cubicBezTo>
                  <a:pt x="218063" y="147541"/>
                  <a:pt x="225765" y="166092"/>
                  <a:pt x="241102" y="166092"/>
                </a:cubicBezTo>
                <a:cubicBezTo>
                  <a:pt x="250009" y="166092"/>
                  <a:pt x="257175" y="173258"/>
                  <a:pt x="257175" y="182166"/>
                </a:cubicBezTo>
                <a:cubicBezTo>
                  <a:pt x="257175" y="191073"/>
                  <a:pt x="250009" y="198239"/>
                  <a:pt x="241102" y="198239"/>
                </a:cubicBezTo>
                <a:cubicBezTo>
                  <a:pt x="225765" y="198239"/>
                  <a:pt x="218063" y="216790"/>
                  <a:pt x="228913" y="227640"/>
                </a:cubicBezTo>
                <a:cubicBezTo>
                  <a:pt x="235208" y="233935"/>
                  <a:pt x="235208" y="244115"/>
                  <a:pt x="228913" y="250344"/>
                </a:cubicBezTo>
                <a:cubicBezTo>
                  <a:pt x="222617" y="256572"/>
                  <a:pt x="212437" y="256639"/>
                  <a:pt x="206209" y="250344"/>
                </a:cubicBezTo>
                <a:cubicBezTo>
                  <a:pt x="195359" y="239494"/>
                  <a:pt x="176808" y="247196"/>
                  <a:pt x="176808" y="262533"/>
                </a:cubicBezTo>
                <a:cubicBezTo>
                  <a:pt x="176808" y="271440"/>
                  <a:pt x="169642" y="278606"/>
                  <a:pt x="160734" y="278606"/>
                </a:cubicBezTo>
                <a:cubicBezTo>
                  <a:pt x="151827" y="278606"/>
                  <a:pt x="144661" y="271440"/>
                  <a:pt x="144661" y="262533"/>
                </a:cubicBezTo>
                <a:cubicBezTo>
                  <a:pt x="144661" y="247196"/>
                  <a:pt x="126110" y="239494"/>
                  <a:pt x="115260" y="250344"/>
                </a:cubicBezTo>
                <a:cubicBezTo>
                  <a:pt x="108965" y="256639"/>
                  <a:pt x="98785" y="256639"/>
                  <a:pt x="92556" y="250344"/>
                </a:cubicBezTo>
                <a:cubicBezTo>
                  <a:pt x="86328" y="244048"/>
                  <a:pt x="86261" y="233869"/>
                  <a:pt x="92556" y="227640"/>
                </a:cubicBezTo>
                <a:cubicBezTo>
                  <a:pt x="103406" y="216790"/>
                  <a:pt x="95704" y="198239"/>
                  <a:pt x="80367" y="198239"/>
                </a:cubicBezTo>
                <a:cubicBezTo>
                  <a:pt x="71460" y="198239"/>
                  <a:pt x="64294" y="191073"/>
                  <a:pt x="64294" y="182166"/>
                </a:cubicBezTo>
                <a:cubicBezTo>
                  <a:pt x="64294" y="173258"/>
                  <a:pt x="71460" y="166092"/>
                  <a:pt x="80367" y="166092"/>
                </a:cubicBezTo>
                <a:cubicBezTo>
                  <a:pt x="95704" y="166092"/>
                  <a:pt x="103406" y="147541"/>
                  <a:pt x="92556" y="136691"/>
                </a:cubicBezTo>
                <a:cubicBezTo>
                  <a:pt x="86261" y="130396"/>
                  <a:pt x="86261" y="120216"/>
                  <a:pt x="92556" y="113987"/>
                </a:cubicBezTo>
                <a:cubicBezTo>
                  <a:pt x="98852" y="107759"/>
                  <a:pt x="109031" y="107692"/>
                  <a:pt x="115260" y="113987"/>
                </a:cubicBezTo>
                <a:cubicBezTo>
                  <a:pt x="126110" y="124837"/>
                  <a:pt x="144661" y="117135"/>
                  <a:pt x="144661" y="101798"/>
                </a:cubicBezTo>
                <a:cubicBezTo>
                  <a:pt x="144661" y="92891"/>
                  <a:pt x="151827" y="85725"/>
                  <a:pt x="160734" y="85725"/>
                </a:cubicBezTo>
                <a:close/>
                <a:moveTo>
                  <a:pt x="139303" y="176808"/>
                </a:moveTo>
                <a:cubicBezTo>
                  <a:pt x="148174" y="176808"/>
                  <a:pt x="155377" y="169606"/>
                  <a:pt x="155377" y="160734"/>
                </a:cubicBezTo>
                <a:cubicBezTo>
                  <a:pt x="155377" y="151863"/>
                  <a:pt x="148174" y="144661"/>
                  <a:pt x="139303" y="144661"/>
                </a:cubicBezTo>
                <a:cubicBezTo>
                  <a:pt x="130432" y="144661"/>
                  <a:pt x="123230" y="151863"/>
                  <a:pt x="123230" y="160734"/>
                </a:cubicBezTo>
                <a:cubicBezTo>
                  <a:pt x="123230" y="169606"/>
                  <a:pt x="130432" y="176808"/>
                  <a:pt x="139303" y="176808"/>
                </a:cubicBezTo>
                <a:close/>
                <a:moveTo>
                  <a:pt x="198239" y="203597"/>
                </a:moveTo>
                <a:cubicBezTo>
                  <a:pt x="198239" y="194726"/>
                  <a:pt x="191037" y="187523"/>
                  <a:pt x="182166" y="187523"/>
                </a:cubicBezTo>
                <a:cubicBezTo>
                  <a:pt x="173294" y="187523"/>
                  <a:pt x="166092" y="194726"/>
                  <a:pt x="166092" y="203597"/>
                </a:cubicBezTo>
                <a:cubicBezTo>
                  <a:pt x="166092" y="212468"/>
                  <a:pt x="173294" y="219670"/>
                  <a:pt x="182166" y="219670"/>
                </a:cubicBezTo>
                <a:cubicBezTo>
                  <a:pt x="191037" y="219670"/>
                  <a:pt x="198239" y="212468"/>
                  <a:pt x="198239" y="203597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9" name="Text 47"/>
          <p:cNvSpPr/>
          <p:nvPr/>
        </p:nvSpPr>
        <p:spPr>
          <a:xfrm>
            <a:off x="8018190" y="5022056"/>
            <a:ext cx="3648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018190" y="5403056"/>
            <a:ext cx="36385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Agents now have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power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just reasoning ability. This fundamental shift requires new safety paradigms.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10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Controls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Guardrails and Operations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143000"/>
            <a:ext cx="4508500" cy="785813"/>
          </a:xfrm>
          <a:custGeom>
            <a:avLst/>
            <a:gdLst/>
            <a:ahLst/>
            <a:cxnLst/>
            <a:rect l="l" t="t" r="r" b="b"/>
            <a:pathLst>
              <a:path w="4508500" h="785813">
                <a:moveTo>
                  <a:pt x="0" y="0"/>
                </a:moveTo>
                <a:lnTo>
                  <a:pt x="4444998" y="0"/>
                </a:lnTo>
                <a:cubicBezTo>
                  <a:pt x="4480069" y="0"/>
                  <a:pt x="4508500" y="28431"/>
                  <a:pt x="4508500" y="63502"/>
                </a:cubicBezTo>
                <a:lnTo>
                  <a:pt x="4508500" y="722311"/>
                </a:lnTo>
                <a:cubicBezTo>
                  <a:pt x="4508500" y="757382"/>
                  <a:pt x="4480069" y="785813"/>
                  <a:pt x="4444998" y="785813"/>
                </a:cubicBezTo>
                <a:lnTo>
                  <a:pt x="0" y="785813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33375" y="1143000"/>
            <a:ext cx="31750" cy="785813"/>
          </a:xfrm>
          <a:custGeom>
            <a:avLst/>
            <a:gdLst/>
            <a:ahLst/>
            <a:cxnLst/>
            <a:rect l="l" t="t" r="r" b="b"/>
            <a:pathLst>
              <a:path w="31750" h="785813">
                <a:moveTo>
                  <a:pt x="0" y="0"/>
                </a:moveTo>
                <a:lnTo>
                  <a:pt x="31750" y="0"/>
                </a:lnTo>
                <a:lnTo>
                  <a:pt x="31750" y="785813"/>
                </a:lnTo>
                <a:lnTo>
                  <a:pt x="0" y="785813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" name="Text 4"/>
          <p:cNvSpPr/>
          <p:nvPr/>
        </p:nvSpPr>
        <p:spPr>
          <a:xfrm>
            <a:off x="508000" y="1301750"/>
            <a:ext cx="424656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AI systems require comprehensive controls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ensure safe, reliable, and auditable operation in real-world environments.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1469" y="2119313"/>
            <a:ext cx="2190750" cy="1452563"/>
          </a:xfrm>
          <a:custGeom>
            <a:avLst/>
            <a:gdLst/>
            <a:ahLst/>
            <a:cxnLst/>
            <a:rect l="l" t="t" r="r" b="b"/>
            <a:pathLst>
              <a:path w="2190750" h="1452563">
                <a:moveTo>
                  <a:pt x="63506" y="0"/>
                </a:moveTo>
                <a:lnTo>
                  <a:pt x="2127244" y="0"/>
                </a:lnTo>
                <a:cubicBezTo>
                  <a:pt x="2162317" y="0"/>
                  <a:pt x="2190750" y="28433"/>
                  <a:pt x="2190750" y="63506"/>
                </a:cubicBezTo>
                <a:lnTo>
                  <a:pt x="2190750" y="1389056"/>
                </a:lnTo>
                <a:cubicBezTo>
                  <a:pt x="2190750" y="1424130"/>
                  <a:pt x="2162317" y="1452563"/>
                  <a:pt x="2127244" y="1452563"/>
                </a:cubicBezTo>
                <a:lnTo>
                  <a:pt x="63506" y="1452563"/>
                </a:lnTo>
                <a:cubicBezTo>
                  <a:pt x="28433" y="1452563"/>
                  <a:pt x="0" y="1424130"/>
                  <a:pt x="0" y="1389056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4A5059">
              <a:alpha val="20000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187" y="2282031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73484" y="2369344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93762" y="98227"/>
                </a:moveTo>
                <a:cubicBezTo>
                  <a:pt x="120886" y="98227"/>
                  <a:pt x="142875" y="76237"/>
                  <a:pt x="142875" y="49113"/>
                </a:cubicBezTo>
                <a:cubicBezTo>
                  <a:pt x="142875" y="21989"/>
                  <a:pt x="120886" y="0"/>
                  <a:pt x="93762" y="0"/>
                </a:cubicBezTo>
                <a:cubicBezTo>
                  <a:pt x="66638" y="0"/>
                  <a:pt x="44648" y="21989"/>
                  <a:pt x="44648" y="49113"/>
                </a:cubicBezTo>
                <a:cubicBezTo>
                  <a:pt x="44648" y="54332"/>
                  <a:pt x="45458" y="59382"/>
                  <a:pt x="46965" y="64098"/>
                </a:cubicBezTo>
                <a:lnTo>
                  <a:pt x="1953" y="109110"/>
                </a:lnTo>
                <a:cubicBezTo>
                  <a:pt x="698" y="110365"/>
                  <a:pt x="0" y="112068"/>
                  <a:pt x="0" y="113854"/>
                </a:cubicBezTo>
                <a:lnTo>
                  <a:pt x="0" y="136178"/>
                </a:lnTo>
                <a:cubicBezTo>
                  <a:pt x="0" y="139889"/>
                  <a:pt x="2986" y="142875"/>
                  <a:pt x="6697" y="142875"/>
                </a:cubicBezTo>
                <a:lnTo>
                  <a:pt x="29021" y="142875"/>
                </a:lnTo>
                <a:cubicBezTo>
                  <a:pt x="32733" y="142875"/>
                  <a:pt x="35719" y="139889"/>
                  <a:pt x="35719" y="136178"/>
                </a:cubicBezTo>
                <a:lnTo>
                  <a:pt x="35719" y="125016"/>
                </a:lnTo>
                <a:lnTo>
                  <a:pt x="46881" y="125016"/>
                </a:lnTo>
                <a:cubicBezTo>
                  <a:pt x="50592" y="125016"/>
                  <a:pt x="53578" y="122030"/>
                  <a:pt x="53578" y="118318"/>
                </a:cubicBezTo>
                <a:lnTo>
                  <a:pt x="53578" y="107156"/>
                </a:lnTo>
                <a:lnTo>
                  <a:pt x="64740" y="107156"/>
                </a:lnTo>
                <a:cubicBezTo>
                  <a:pt x="66526" y="107156"/>
                  <a:pt x="68228" y="106459"/>
                  <a:pt x="69484" y="105203"/>
                </a:cubicBezTo>
                <a:lnTo>
                  <a:pt x="78777" y="95910"/>
                </a:lnTo>
                <a:cubicBezTo>
                  <a:pt x="83493" y="97417"/>
                  <a:pt x="88543" y="98227"/>
                  <a:pt x="93762" y="98227"/>
                </a:cubicBezTo>
                <a:close/>
                <a:moveTo>
                  <a:pt x="104924" y="26789"/>
                </a:moveTo>
                <a:cubicBezTo>
                  <a:pt x="111084" y="26789"/>
                  <a:pt x="116086" y="31791"/>
                  <a:pt x="116086" y="37951"/>
                </a:cubicBezTo>
                <a:cubicBezTo>
                  <a:pt x="116086" y="44112"/>
                  <a:pt x="111084" y="49113"/>
                  <a:pt x="104924" y="49113"/>
                </a:cubicBezTo>
                <a:cubicBezTo>
                  <a:pt x="98763" y="49113"/>
                  <a:pt x="93762" y="44112"/>
                  <a:pt x="93762" y="37951"/>
                </a:cubicBezTo>
                <a:cubicBezTo>
                  <a:pt x="93762" y="31791"/>
                  <a:pt x="98763" y="26789"/>
                  <a:pt x="104924" y="26789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0" name="Text 8"/>
          <p:cNvSpPr/>
          <p:nvPr/>
        </p:nvSpPr>
        <p:spPr>
          <a:xfrm>
            <a:off x="896938" y="2329656"/>
            <a:ext cx="115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 Permissions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187" y="2694781"/>
            <a:ext cx="192881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access control with granular permissions for each tool and action.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45544" y="2119313"/>
            <a:ext cx="2190750" cy="1452563"/>
          </a:xfrm>
          <a:custGeom>
            <a:avLst/>
            <a:gdLst/>
            <a:ahLst/>
            <a:cxnLst/>
            <a:rect l="l" t="t" r="r" b="b"/>
            <a:pathLst>
              <a:path w="2190750" h="1452563">
                <a:moveTo>
                  <a:pt x="63506" y="0"/>
                </a:moveTo>
                <a:lnTo>
                  <a:pt x="2127244" y="0"/>
                </a:lnTo>
                <a:cubicBezTo>
                  <a:pt x="2162317" y="0"/>
                  <a:pt x="2190750" y="28433"/>
                  <a:pt x="2190750" y="63506"/>
                </a:cubicBezTo>
                <a:lnTo>
                  <a:pt x="2190750" y="1389056"/>
                </a:lnTo>
                <a:cubicBezTo>
                  <a:pt x="2190750" y="1424130"/>
                  <a:pt x="2162317" y="1452563"/>
                  <a:pt x="2127244" y="1452563"/>
                </a:cubicBezTo>
                <a:lnTo>
                  <a:pt x="63506" y="1452563"/>
                </a:lnTo>
                <a:cubicBezTo>
                  <a:pt x="28433" y="1452563"/>
                  <a:pt x="0" y="1424130"/>
                  <a:pt x="0" y="1389056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4A5059">
              <a:alpha val="20000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08263" y="2282031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879700" y="2369344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37951" y="35719"/>
                </a:moveTo>
                <a:cubicBezTo>
                  <a:pt x="37951" y="17237"/>
                  <a:pt x="52956" y="2232"/>
                  <a:pt x="71438" y="2232"/>
                </a:cubicBezTo>
                <a:cubicBezTo>
                  <a:pt x="89919" y="2232"/>
                  <a:pt x="104924" y="17237"/>
                  <a:pt x="104924" y="35719"/>
                </a:cubicBezTo>
                <a:cubicBezTo>
                  <a:pt x="104924" y="54200"/>
                  <a:pt x="89919" y="69205"/>
                  <a:pt x="71438" y="69205"/>
                </a:cubicBezTo>
                <a:cubicBezTo>
                  <a:pt x="52956" y="69205"/>
                  <a:pt x="37951" y="54200"/>
                  <a:pt x="37951" y="35719"/>
                </a:cubicBezTo>
                <a:close/>
                <a:moveTo>
                  <a:pt x="13395" y="134587"/>
                </a:moveTo>
                <a:cubicBezTo>
                  <a:pt x="13395" y="107100"/>
                  <a:pt x="35663" y="84832"/>
                  <a:pt x="63150" y="84832"/>
                </a:cubicBezTo>
                <a:lnTo>
                  <a:pt x="79725" y="84832"/>
                </a:lnTo>
                <a:cubicBezTo>
                  <a:pt x="107212" y="84832"/>
                  <a:pt x="129480" y="107100"/>
                  <a:pt x="129480" y="134587"/>
                </a:cubicBezTo>
                <a:cubicBezTo>
                  <a:pt x="129480" y="139164"/>
                  <a:pt x="125769" y="142875"/>
                  <a:pt x="121193" y="142875"/>
                </a:cubicBezTo>
                <a:lnTo>
                  <a:pt x="21682" y="142875"/>
                </a:lnTo>
                <a:cubicBezTo>
                  <a:pt x="17106" y="142875"/>
                  <a:pt x="13395" y="139164"/>
                  <a:pt x="13395" y="134587"/>
                </a:cubicBezTo>
                <a:close/>
                <a:moveTo>
                  <a:pt x="170892" y="37030"/>
                </a:moveTo>
                <a:lnTo>
                  <a:pt x="148568" y="72749"/>
                </a:lnTo>
                <a:cubicBezTo>
                  <a:pt x="147396" y="74619"/>
                  <a:pt x="145386" y="75791"/>
                  <a:pt x="143182" y="75902"/>
                </a:cubicBezTo>
                <a:cubicBezTo>
                  <a:pt x="140977" y="76014"/>
                  <a:pt x="138857" y="75009"/>
                  <a:pt x="137545" y="73223"/>
                </a:cubicBezTo>
                <a:lnTo>
                  <a:pt x="124151" y="55364"/>
                </a:lnTo>
                <a:cubicBezTo>
                  <a:pt x="121918" y="52406"/>
                  <a:pt x="122532" y="48220"/>
                  <a:pt x="125490" y="45988"/>
                </a:cubicBezTo>
                <a:cubicBezTo>
                  <a:pt x="128448" y="43755"/>
                  <a:pt x="132634" y="44369"/>
                  <a:pt x="134866" y="47327"/>
                </a:cubicBezTo>
                <a:lnTo>
                  <a:pt x="142401" y="57373"/>
                </a:lnTo>
                <a:lnTo>
                  <a:pt x="159534" y="29942"/>
                </a:lnTo>
                <a:cubicBezTo>
                  <a:pt x="161488" y="26817"/>
                  <a:pt x="165618" y="25840"/>
                  <a:pt x="168771" y="27822"/>
                </a:cubicBezTo>
                <a:cubicBezTo>
                  <a:pt x="171924" y="29803"/>
                  <a:pt x="172873" y="33905"/>
                  <a:pt x="170892" y="37058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5" name="Text 13"/>
          <p:cNvSpPr/>
          <p:nvPr/>
        </p:nvSpPr>
        <p:spPr>
          <a:xfrm>
            <a:off x="3221013" y="2329656"/>
            <a:ext cx="1127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Approval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08263" y="2694781"/>
            <a:ext cx="192881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actions require explicit human review and authorization before execution.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1469" y="3705448"/>
            <a:ext cx="2190750" cy="1452563"/>
          </a:xfrm>
          <a:custGeom>
            <a:avLst/>
            <a:gdLst/>
            <a:ahLst/>
            <a:cxnLst/>
            <a:rect l="l" t="t" r="r" b="b"/>
            <a:pathLst>
              <a:path w="2190750" h="1452563">
                <a:moveTo>
                  <a:pt x="63506" y="0"/>
                </a:moveTo>
                <a:lnTo>
                  <a:pt x="2127244" y="0"/>
                </a:lnTo>
                <a:cubicBezTo>
                  <a:pt x="2162317" y="0"/>
                  <a:pt x="2190750" y="28433"/>
                  <a:pt x="2190750" y="63506"/>
                </a:cubicBezTo>
                <a:lnTo>
                  <a:pt x="2190750" y="1389056"/>
                </a:lnTo>
                <a:cubicBezTo>
                  <a:pt x="2190750" y="1424130"/>
                  <a:pt x="2162317" y="1452563"/>
                  <a:pt x="2127244" y="1452563"/>
                </a:cubicBezTo>
                <a:lnTo>
                  <a:pt x="63506" y="1452563"/>
                </a:lnTo>
                <a:cubicBezTo>
                  <a:pt x="28433" y="1452563"/>
                  <a:pt x="0" y="1424130"/>
                  <a:pt x="0" y="1389056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4A5059">
              <a:alpha val="20000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187" y="386816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82414" y="3955479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47020" y="0"/>
                </a:moveTo>
                <a:cubicBezTo>
                  <a:pt x="43309" y="0"/>
                  <a:pt x="40323" y="2986"/>
                  <a:pt x="40323" y="6697"/>
                </a:cubicBezTo>
                <a:cubicBezTo>
                  <a:pt x="40323" y="10409"/>
                  <a:pt x="43309" y="13395"/>
                  <a:pt x="47020" y="13395"/>
                </a:cubicBezTo>
                <a:lnTo>
                  <a:pt x="55950" y="13395"/>
                </a:lnTo>
                <a:lnTo>
                  <a:pt x="55950" y="20455"/>
                </a:lnTo>
                <a:cubicBezTo>
                  <a:pt x="25812" y="23775"/>
                  <a:pt x="2372" y="49337"/>
                  <a:pt x="2372" y="80367"/>
                </a:cubicBezTo>
                <a:cubicBezTo>
                  <a:pt x="2372" y="113658"/>
                  <a:pt x="29356" y="140643"/>
                  <a:pt x="62647" y="140643"/>
                </a:cubicBezTo>
                <a:cubicBezTo>
                  <a:pt x="95938" y="140643"/>
                  <a:pt x="122923" y="113658"/>
                  <a:pt x="122923" y="80367"/>
                </a:cubicBezTo>
                <a:cubicBezTo>
                  <a:pt x="122923" y="69261"/>
                  <a:pt x="119909" y="58852"/>
                  <a:pt x="114663" y="49895"/>
                </a:cubicBezTo>
                <a:lnTo>
                  <a:pt x="122532" y="42025"/>
                </a:lnTo>
                <a:cubicBezTo>
                  <a:pt x="126020" y="38537"/>
                  <a:pt x="126020" y="32872"/>
                  <a:pt x="122532" y="29384"/>
                </a:cubicBezTo>
                <a:cubicBezTo>
                  <a:pt x="119044" y="25896"/>
                  <a:pt x="113379" y="25896"/>
                  <a:pt x="109891" y="29384"/>
                </a:cubicBezTo>
                <a:lnTo>
                  <a:pt x="103361" y="35914"/>
                </a:lnTo>
                <a:cubicBezTo>
                  <a:pt x="94180" y="27487"/>
                  <a:pt x="82376" y="21878"/>
                  <a:pt x="69317" y="20427"/>
                </a:cubicBezTo>
                <a:lnTo>
                  <a:pt x="69317" y="13367"/>
                </a:lnTo>
                <a:lnTo>
                  <a:pt x="78246" y="13367"/>
                </a:lnTo>
                <a:cubicBezTo>
                  <a:pt x="81958" y="13367"/>
                  <a:pt x="84944" y="10381"/>
                  <a:pt x="84944" y="6669"/>
                </a:cubicBezTo>
                <a:cubicBezTo>
                  <a:pt x="84944" y="2958"/>
                  <a:pt x="81958" y="-28"/>
                  <a:pt x="78246" y="-28"/>
                </a:cubicBezTo>
                <a:lnTo>
                  <a:pt x="46992" y="-28"/>
                </a:lnTo>
                <a:close/>
                <a:moveTo>
                  <a:pt x="69345" y="51346"/>
                </a:moveTo>
                <a:lnTo>
                  <a:pt x="69345" y="80367"/>
                </a:lnTo>
                <a:cubicBezTo>
                  <a:pt x="69345" y="84079"/>
                  <a:pt x="66359" y="87064"/>
                  <a:pt x="62647" y="87064"/>
                </a:cubicBezTo>
                <a:cubicBezTo>
                  <a:pt x="58936" y="87064"/>
                  <a:pt x="55950" y="84079"/>
                  <a:pt x="55950" y="80367"/>
                </a:cubicBezTo>
                <a:lnTo>
                  <a:pt x="55950" y="51346"/>
                </a:lnTo>
                <a:cubicBezTo>
                  <a:pt x="55950" y="47634"/>
                  <a:pt x="58936" y="44648"/>
                  <a:pt x="62647" y="44648"/>
                </a:cubicBezTo>
                <a:cubicBezTo>
                  <a:pt x="66359" y="44648"/>
                  <a:pt x="69345" y="47634"/>
                  <a:pt x="69345" y="5134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0" name="Text 18"/>
          <p:cNvSpPr/>
          <p:nvPr/>
        </p:nvSpPr>
        <p:spPr>
          <a:xfrm>
            <a:off x="896938" y="3915792"/>
            <a:ext cx="1111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Limits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187" y="4280917"/>
            <a:ext cx="192881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Timeouts, retry limits, and resource quotas to prevent runaway processes.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645544" y="3705448"/>
            <a:ext cx="2190750" cy="1452563"/>
          </a:xfrm>
          <a:custGeom>
            <a:avLst/>
            <a:gdLst/>
            <a:ahLst/>
            <a:cxnLst/>
            <a:rect l="l" t="t" r="r" b="b"/>
            <a:pathLst>
              <a:path w="2190750" h="1452563">
                <a:moveTo>
                  <a:pt x="63506" y="0"/>
                </a:moveTo>
                <a:lnTo>
                  <a:pt x="2127244" y="0"/>
                </a:lnTo>
                <a:cubicBezTo>
                  <a:pt x="2162317" y="0"/>
                  <a:pt x="2190750" y="28433"/>
                  <a:pt x="2190750" y="63506"/>
                </a:cubicBezTo>
                <a:lnTo>
                  <a:pt x="2190750" y="1389056"/>
                </a:lnTo>
                <a:cubicBezTo>
                  <a:pt x="2190750" y="1424130"/>
                  <a:pt x="2162317" y="1452563"/>
                  <a:pt x="2127244" y="1452563"/>
                </a:cubicBezTo>
                <a:lnTo>
                  <a:pt x="63506" y="1452563"/>
                </a:lnTo>
                <a:cubicBezTo>
                  <a:pt x="28433" y="1452563"/>
                  <a:pt x="0" y="1424130"/>
                  <a:pt x="0" y="1389056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4A5059">
              <a:alpha val="20000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08263" y="386816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906489" y="3955479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03082" y="35719"/>
                </a:moveTo>
                <a:lnTo>
                  <a:pt x="93511" y="22324"/>
                </a:lnTo>
                <a:lnTo>
                  <a:pt x="31533" y="22324"/>
                </a:lnTo>
                <a:lnTo>
                  <a:pt x="21961" y="35719"/>
                </a:lnTo>
                <a:lnTo>
                  <a:pt x="103082" y="35719"/>
                </a:lnTo>
                <a:close/>
                <a:moveTo>
                  <a:pt x="0" y="41439"/>
                </a:moveTo>
                <a:cubicBezTo>
                  <a:pt x="0" y="37728"/>
                  <a:pt x="1172" y="34100"/>
                  <a:pt x="3321" y="31059"/>
                </a:cubicBezTo>
                <a:lnTo>
                  <a:pt x="16994" y="11943"/>
                </a:lnTo>
                <a:cubicBezTo>
                  <a:pt x="20343" y="7255"/>
                  <a:pt x="25757" y="4465"/>
                  <a:pt x="31505" y="4465"/>
                </a:cubicBezTo>
                <a:lnTo>
                  <a:pt x="93483" y="4465"/>
                </a:lnTo>
                <a:cubicBezTo>
                  <a:pt x="99259" y="4465"/>
                  <a:pt x="104673" y="7255"/>
                  <a:pt x="108021" y="11943"/>
                </a:cubicBezTo>
                <a:lnTo>
                  <a:pt x="121667" y="31059"/>
                </a:lnTo>
                <a:cubicBezTo>
                  <a:pt x="123844" y="34100"/>
                  <a:pt x="124988" y="37728"/>
                  <a:pt x="124988" y="41439"/>
                </a:cubicBezTo>
                <a:lnTo>
                  <a:pt x="125016" y="116086"/>
                </a:lnTo>
                <a:cubicBezTo>
                  <a:pt x="125016" y="125936"/>
                  <a:pt x="117007" y="133945"/>
                  <a:pt x="107156" y="133945"/>
                </a:cubicBezTo>
                <a:lnTo>
                  <a:pt x="17859" y="133945"/>
                </a:lnTo>
                <a:cubicBezTo>
                  <a:pt x="8009" y="133945"/>
                  <a:pt x="0" y="125936"/>
                  <a:pt x="0" y="116086"/>
                </a:cubicBezTo>
                <a:lnTo>
                  <a:pt x="0" y="41439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5" name="Text 23"/>
          <p:cNvSpPr/>
          <p:nvPr/>
        </p:nvSpPr>
        <p:spPr>
          <a:xfrm>
            <a:off x="3221013" y="3915792"/>
            <a:ext cx="113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 Isolation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808263" y="4280917"/>
            <a:ext cx="192881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 contexts for different users and tasks to prevent cross-contamination.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1469" y="5291646"/>
            <a:ext cx="4516438" cy="1246188"/>
          </a:xfrm>
          <a:custGeom>
            <a:avLst/>
            <a:gdLst/>
            <a:ahLst/>
            <a:cxnLst/>
            <a:rect l="l" t="t" r="r" b="b"/>
            <a:pathLst>
              <a:path w="4516438" h="1246188">
                <a:moveTo>
                  <a:pt x="63506" y="0"/>
                </a:moveTo>
                <a:lnTo>
                  <a:pt x="4452932" y="0"/>
                </a:lnTo>
                <a:cubicBezTo>
                  <a:pt x="4488005" y="0"/>
                  <a:pt x="4516438" y="28432"/>
                  <a:pt x="4516438" y="63506"/>
                </a:cubicBezTo>
                <a:lnTo>
                  <a:pt x="4516438" y="1182682"/>
                </a:lnTo>
                <a:cubicBezTo>
                  <a:pt x="4516438" y="1217755"/>
                  <a:pt x="4488005" y="1246187"/>
                  <a:pt x="4452932" y="1246188"/>
                </a:cubicBezTo>
                <a:lnTo>
                  <a:pt x="63506" y="1246188"/>
                </a:lnTo>
                <a:cubicBezTo>
                  <a:pt x="28432" y="1246188"/>
                  <a:pt x="0" y="1217755"/>
                  <a:pt x="0" y="1182682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4A5059">
              <a:alpha val="20000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187" y="545436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64555" y="5541677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80367" y="8930"/>
                </a:moveTo>
                <a:cubicBezTo>
                  <a:pt x="57820" y="8930"/>
                  <a:pt x="39765" y="19199"/>
                  <a:pt x="26622" y="31421"/>
                </a:cubicBezTo>
                <a:cubicBezTo>
                  <a:pt x="13562" y="43560"/>
                  <a:pt x="4828" y="58043"/>
                  <a:pt x="670" y="68005"/>
                </a:cubicBezTo>
                <a:cubicBezTo>
                  <a:pt x="-251" y="70210"/>
                  <a:pt x="-251" y="72665"/>
                  <a:pt x="670" y="74870"/>
                </a:cubicBezTo>
                <a:cubicBezTo>
                  <a:pt x="4828" y="84832"/>
                  <a:pt x="13562" y="99343"/>
                  <a:pt x="26622" y="111454"/>
                </a:cubicBezTo>
                <a:cubicBezTo>
                  <a:pt x="39765" y="123648"/>
                  <a:pt x="57820" y="133945"/>
                  <a:pt x="80367" y="133945"/>
                </a:cubicBezTo>
                <a:cubicBezTo>
                  <a:pt x="102915" y="133945"/>
                  <a:pt x="120969" y="123676"/>
                  <a:pt x="134113" y="111454"/>
                </a:cubicBezTo>
                <a:cubicBezTo>
                  <a:pt x="147172" y="99315"/>
                  <a:pt x="155907" y="84832"/>
                  <a:pt x="160065" y="74870"/>
                </a:cubicBezTo>
                <a:cubicBezTo>
                  <a:pt x="160986" y="72665"/>
                  <a:pt x="160986" y="70210"/>
                  <a:pt x="160065" y="68005"/>
                </a:cubicBezTo>
                <a:cubicBezTo>
                  <a:pt x="155907" y="58043"/>
                  <a:pt x="147172" y="43532"/>
                  <a:pt x="134113" y="31421"/>
                </a:cubicBezTo>
                <a:cubicBezTo>
                  <a:pt x="120969" y="19227"/>
                  <a:pt x="102915" y="8930"/>
                  <a:pt x="80367" y="8930"/>
                </a:cubicBezTo>
                <a:close/>
                <a:moveTo>
                  <a:pt x="40184" y="71438"/>
                </a:moveTo>
                <a:cubicBezTo>
                  <a:pt x="40184" y="49260"/>
                  <a:pt x="58189" y="31254"/>
                  <a:pt x="80367" y="31254"/>
                </a:cubicBezTo>
                <a:cubicBezTo>
                  <a:pt x="102545" y="31254"/>
                  <a:pt x="120551" y="49260"/>
                  <a:pt x="120551" y="71438"/>
                </a:cubicBezTo>
                <a:cubicBezTo>
                  <a:pt x="120551" y="93615"/>
                  <a:pt x="102545" y="111621"/>
                  <a:pt x="80367" y="111621"/>
                </a:cubicBezTo>
                <a:cubicBezTo>
                  <a:pt x="58189" y="111621"/>
                  <a:pt x="40184" y="93615"/>
                  <a:pt x="40184" y="71438"/>
                </a:cubicBezTo>
                <a:close/>
                <a:moveTo>
                  <a:pt x="80367" y="53578"/>
                </a:moveTo>
                <a:cubicBezTo>
                  <a:pt x="80367" y="63429"/>
                  <a:pt x="72358" y="71438"/>
                  <a:pt x="62508" y="71438"/>
                </a:cubicBezTo>
                <a:cubicBezTo>
                  <a:pt x="59299" y="71438"/>
                  <a:pt x="56285" y="70600"/>
                  <a:pt x="53662" y="69093"/>
                </a:cubicBezTo>
                <a:cubicBezTo>
                  <a:pt x="53383" y="72135"/>
                  <a:pt x="53634" y="75261"/>
                  <a:pt x="54471" y="78358"/>
                </a:cubicBezTo>
                <a:cubicBezTo>
                  <a:pt x="58294" y="92646"/>
                  <a:pt x="73000" y="101129"/>
                  <a:pt x="87288" y="97306"/>
                </a:cubicBezTo>
                <a:cubicBezTo>
                  <a:pt x="101575" y="93483"/>
                  <a:pt x="110058" y="78777"/>
                  <a:pt x="106235" y="64489"/>
                </a:cubicBezTo>
                <a:cubicBezTo>
                  <a:pt x="102831" y="51736"/>
                  <a:pt x="90748" y="43616"/>
                  <a:pt x="78023" y="44732"/>
                </a:cubicBezTo>
                <a:cubicBezTo>
                  <a:pt x="79502" y="47327"/>
                  <a:pt x="80367" y="50341"/>
                  <a:pt x="80367" y="53578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0" name="Text 28"/>
          <p:cNvSpPr/>
          <p:nvPr/>
        </p:nvSpPr>
        <p:spPr>
          <a:xfrm>
            <a:off x="896938" y="5501990"/>
            <a:ext cx="904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187" y="5867115"/>
            <a:ext cx="4254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logging, tracing, and monitoring of all agent activities and decisions.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96681" y="1146969"/>
            <a:ext cx="6770688" cy="4675188"/>
          </a:xfrm>
          <a:custGeom>
            <a:avLst/>
            <a:gdLst/>
            <a:ahLst/>
            <a:cxnLst/>
            <a:rect l="l" t="t" r="r" b="b"/>
            <a:pathLst>
              <a:path w="6770688" h="4675188">
                <a:moveTo>
                  <a:pt x="63489" y="0"/>
                </a:moveTo>
                <a:lnTo>
                  <a:pt x="6707198" y="0"/>
                </a:lnTo>
                <a:cubicBezTo>
                  <a:pt x="6742262" y="0"/>
                  <a:pt x="6770688" y="28425"/>
                  <a:pt x="6770688" y="63489"/>
                </a:cubicBezTo>
                <a:lnTo>
                  <a:pt x="6770688" y="4611698"/>
                </a:lnTo>
                <a:cubicBezTo>
                  <a:pt x="6770688" y="4646762"/>
                  <a:pt x="6742262" y="4675188"/>
                  <a:pt x="6707198" y="4675188"/>
                </a:cubicBezTo>
                <a:lnTo>
                  <a:pt x="63489" y="4675188"/>
                </a:lnTo>
                <a:cubicBezTo>
                  <a:pt x="28425" y="4675188"/>
                  <a:pt x="0" y="4646762"/>
                  <a:pt x="0" y="4611698"/>
                </a:cubicBezTo>
                <a:lnTo>
                  <a:pt x="0" y="63489"/>
                </a:lnTo>
                <a:cubicBezTo>
                  <a:pt x="0" y="28448"/>
                  <a:pt x="28448" y="0"/>
                  <a:pt x="63489" y="0"/>
                </a:cubicBezTo>
                <a:close/>
              </a:path>
            </a:pathLst>
          </a:custGeom>
          <a:solidFill>
            <a:srgbClr val="4A5059">
              <a:alpha val="20000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91150" y="1341438"/>
            <a:ext cx="647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to Monitor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91150" y="17859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71517" y="1873250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95994" y="-8930"/>
                </a:moveTo>
                <a:cubicBezTo>
                  <a:pt x="131741" y="-8930"/>
                  <a:pt x="160734" y="20064"/>
                  <a:pt x="160734" y="55811"/>
                </a:cubicBezTo>
                <a:cubicBezTo>
                  <a:pt x="160734" y="59522"/>
                  <a:pt x="157749" y="62508"/>
                  <a:pt x="154037" y="62508"/>
                </a:cubicBezTo>
                <a:cubicBezTo>
                  <a:pt x="150326" y="62508"/>
                  <a:pt x="147340" y="59522"/>
                  <a:pt x="147340" y="55811"/>
                </a:cubicBezTo>
                <a:cubicBezTo>
                  <a:pt x="147340" y="27459"/>
                  <a:pt x="124346" y="4465"/>
                  <a:pt x="95994" y="4465"/>
                </a:cubicBezTo>
                <a:cubicBezTo>
                  <a:pt x="92283" y="4465"/>
                  <a:pt x="89297" y="1479"/>
                  <a:pt x="89297" y="-2232"/>
                </a:cubicBezTo>
                <a:cubicBezTo>
                  <a:pt x="89297" y="-5944"/>
                  <a:pt x="92283" y="-8930"/>
                  <a:pt x="95994" y="-8930"/>
                </a:cubicBezTo>
                <a:close/>
                <a:moveTo>
                  <a:pt x="98227" y="44648"/>
                </a:moveTo>
                <a:cubicBezTo>
                  <a:pt x="103155" y="44648"/>
                  <a:pt x="107156" y="48650"/>
                  <a:pt x="107156" y="53578"/>
                </a:cubicBezTo>
                <a:cubicBezTo>
                  <a:pt x="107156" y="58507"/>
                  <a:pt x="103155" y="62508"/>
                  <a:pt x="98227" y="62508"/>
                </a:cubicBezTo>
                <a:cubicBezTo>
                  <a:pt x="93298" y="62508"/>
                  <a:pt x="89297" y="58507"/>
                  <a:pt x="89297" y="53578"/>
                </a:cubicBezTo>
                <a:cubicBezTo>
                  <a:pt x="89297" y="48650"/>
                  <a:pt x="93298" y="44648"/>
                  <a:pt x="98227" y="44648"/>
                </a:cubicBezTo>
                <a:close/>
                <a:moveTo>
                  <a:pt x="89297" y="24557"/>
                </a:moveTo>
                <a:cubicBezTo>
                  <a:pt x="89297" y="20845"/>
                  <a:pt x="92283" y="17859"/>
                  <a:pt x="95994" y="17859"/>
                </a:cubicBezTo>
                <a:cubicBezTo>
                  <a:pt x="116951" y="17859"/>
                  <a:pt x="133945" y="34854"/>
                  <a:pt x="133945" y="55811"/>
                </a:cubicBezTo>
                <a:cubicBezTo>
                  <a:pt x="133945" y="59522"/>
                  <a:pt x="130959" y="62508"/>
                  <a:pt x="127248" y="62508"/>
                </a:cubicBezTo>
                <a:cubicBezTo>
                  <a:pt x="123537" y="62508"/>
                  <a:pt x="120551" y="59522"/>
                  <a:pt x="120551" y="55811"/>
                </a:cubicBezTo>
                <a:cubicBezTo>
                  <a:pt x="120551" y="42249"/>
                  <a:pt x="109556" y="31254"/>
                  <a:pt x="95994" y="31254"/>
                </a:cubicBezTo>
                <a:cubicBezTo>
                  <a:pt x="92283" y="31254"/>
                  <a:pt x="89297" y="28268"/>
                  <a:pt x="89297" y="24557"/>
                </a:cubicBezTo>
                <a:close/>
                <a:moveTo>
                  <a:pt x="40211" y="391"/>
                </a:moveTo>
                <a:cubicBezTo>
                  <a:pt x="45709" y="-1116"/>
                  <a:pt x="51457" y="1702"/>
                  <a:pt x="53634" y="6948"/>
                </a:cubicBezTo>
                <a:lnTo>
                  <a:pt x="64936" y="34100"/>
                </a:lnTo>
                <a:cubicBezTo>
                  <a:pt x="66861" y="38705"/>
                  <a:pt x="65522" y="44035"/>
                  <a:pt x="61643" y="47216"/>
                </a:cubicBezTo>
                <a:lnTo>
                  <a:pt x="49337" y="57290"/>
                </a:lnTo>
                <a:cubicBezTo>
                  <a:pt x="58406" y="77270"/>
                  <a:pt x="74172" y="93566"/>
                  <a:pt x="93790" y="103305"/>
                </a:cubicBezTo>
                <a:lnTo>
                  <a:pt x="104561" y="90134"/>
                </a:lnTo>
                <a:cubicBezTo>
                  <a:pt x="107714" y="86255"/>
                  <a:pt x="113044" y="84944"/>
                  <a:pt x="117677" y="86841"/>
                </a:cubicBezTo>
                <a:lnTo>
                  <a:pt x="144828" y="98171"/>
                </a:lnTo>
                <a:cubicBezTo>
                  <a:pt x="150075" y="100347"/>
                  <a:pt x="152893" y="106096"/>
                  <a:pt x="151386" y="111593"/>
                </a:cubicBezTo>
                <a:lnTo>
                  <a:pt x="150968" y="113128"/>
                </a:lnTo>
                <a:cubicBezTo>
                  <a:pt x="146056" y="131183"/>
                  <a:pt x="128615" y="146586"/>
                  <a:pt x="107324" y="142094"/>
                </a:cubicBezTo>
                <a:cubicBezTo>
                  <a:pt x="58489" y="131741"/>
                  <a:pt x="20064" y="93315"/>
                  <a:pt x="9711" y="44481"/>
                </a:cubicBezTo>
                <a:cubicBezTo>
                  <a:pt x="5218" y="23189"/>
                  <a:pt x="20622" y="5748"/>
                  <a:pt x="38649" y="809"/>
                </a:cubicBezTo>
                <a:lnTo>
                  <a:pt x="40184" y="391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6" name="Text 34"/>
          <p:cNvSpPr/>
          <p:nvPr/>
        </p:nvSpPr>
        <p:spPr>
          <a:xfrm>
            <a:off x="5703900" y="1833563"/>
            <a:ext cx="76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 Calls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726720" y="227012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8" name="Text 36"/>
          <p:cNvSpPr/>
          <p:nvPr/>
        </p:nvSpPr>
        <p:spPr>
          <a:xfrm>
            <a:off x="5906306" y="2230438"/>
            <a:ext cx="124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Frequency &amp; patterns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726720" y="252412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0" name="Text 38"/>
          <p:cNvSpPr/>
          <p:nvPr/>
        </p:nvSpPr>
        <p:spPr>
          <a:xfrm>
            <a:off x="5906306" y="2484438"/>
            <a:ext cx="1198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Success/failure rates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726720" y="277812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2" name="Text 40"/>
          <p:cNvSpPr/>
          <p:nvPr/>
        </p:nvSpPr>
        <p:spPr>
          <a:xfrm>
            <a:off x="5906306" y="2738438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Parameter validation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726720" y="303212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4" name="Text 42"/>
          <p:cNvSpPr/>
          <p:nvPr/>
        </p:nvSpPr>
        <p:spPr>
          <a:xfrm>
            <a:off x="5906306" y="2992438"/>
            <a:ext cx="928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times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562950" y="17859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652247" y="18732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3486" y="15627"/>
                </a:moveTo>
                <a:cubicBezTo>
                  <a:pt x="33486" y="7004"/>
                  <a:pt x="40491" y="0"/>
                  <a:pt x="49113" y="0"/>
                </a:cubicBezTo>
                <a:lnTo>
                  <a:pt x="55811" y="0"/>
                </a:lnTo>
                <a:cubicBezTo>
                  <a:pt x="60750" y="0"/>
                  <a:pt x="64740" y="3990"/>
                  <a:pt x="64740" y="8930"/>
                </a:cubicBezTo>
                <a:lnTo>
                  <a:pt x="64740" y="133945"/>
                </a:lnTo>
                <a:cubicBezTo>
                  <a:pt x="64740" y="138885"/>
                  <a:pt x="60750" y="142875"/>
                  <a:pt x="55811" y="142875"/>
                </a:cubicBezTo>
                <a:lnTo>
                  <a:pt x="46881" y="142875"/>
                </a:lnTo>
                <a:cubicBezTo>
                  <a:pt x="38565" y="142875"/>
                  <a:pt x="31561" y="137182"/>
                  <a:pt x="29580" y="129480"/>
                </a:cubicBezTo>
                <a:cubicBezTo>
                  <a:pt x="29384" y="129480"/>
                  <a:pt x="29217" y="129480"/>
                  <a:pt x="29021" y="129480"/>
                </a:cubicBezTo>
                <a:cubicBezTo>
                  <a:pt x="16687" y="129480"/>
                  <a:pt x="6697" y="119490"/>
                  <a:pt x="6697" y="107156"/>
                </a:cubicBezTo>
                <a:cubicBezTo>
                  <a:pt x="6697" y="102133"/>
                  <a:pt x="8372" y="97501"/>
                  <a:pt x="11162" y="93762"/>
                </a:cubicBezTo>
                <a:cubicBezTo>
                  <a:pt x="5748" y="89688"/>
                  <a:pt x="2232" y="83214"/>
                  <a:pt x="2232" y="75902"/>
                </a:cubicBezTo>
                <a:cubicBezTo>
                  <a:pt x="2232" y="67280"/>
                  <a:pt x="7144" y="59773"/>
                  <a:pt x="14288" y="56062"/>
                </a:cubicBezTo>
                <a:cubicBezTo>
                  <a:pt x="12306" y="52713"/>
                  <a:pt x="11162" y="48806"/>
                  <a:pt x="11162" y="44648"/>
                </a:cubicBezTo>
                <a:cubicBezTo>
                  <a:pt x="11162" y="32314"/>
                  <a:pt x="21152" y="22324"/>
                  <a:pt x="33486" y="22324"/>
                </a:cubicBezTo>
                <a:lnTo>
                  <a:pt x="33486" y="15627"/>
                </a:lnTo>
                <a:close/>
                <a:moveTo>
                  <a:pt x="109389" y="15627"/>
                </a:moveTo>
                <a:lnTo>
                  <a:pt x="109389" y="22324"/>
                </a:lnTo>
                <a:cubicBezTo>
                  <a:pt x="121723" y="22324"/>
                  <a:pt x="131713" y="32314"/>
                  <a:pt x="131713" y="44648"/>
                </a:cubicBezTo>
                <a:cubicBezTo>
                  <a:pt x="131713" y="48834"/>
                  <a:pt x="130569" y="52741"/>
                  <a:pt x="128588" y="56062"/>
                </a:cubicBezTo>
                <a:cubicBezTo>
                  <a:pt x="135759" y="59773"/>
                  <a:pt x="140643" y="67252"/>
                  <a:pt x="140643" y="75902"/>
                </a:cubicBezTo>
                <a:cubicBezTo>
                  <a:pt x="140643" y="83214"/>
                  <a:pt x="137127" y="89688"/>
                  <a:pt x="131713" y="93762"/>
                </a:cubicBezTo>
                <a:cubicBezTo>
                  <a:pt x="134503" y="97501"/>
                  <a:pt x="136178" y="102133"/>
                  <a:pt x="136178" y="107156"/>
                </a:cubicBezTo>
                <a:cubicBezTo>
                  <a:pt x="136178" y="119490"/>
                  <a:pt x="126188" y="129480"/>
                  <a:pt x="113854" y="129480"/>
                </a:cubicBezTo>
                <a:cubicBezTo>
                  <a:pt x="113658" y="129480"/>
                  <a:pt x="113491" y="129480"/>
                  <a:pt x="113295" y="129480"/>
                </a:cubicBezTo>
                <a:cubicBezTo>
                  <a:pt x="111314" y="137182"/>
                  <a:pt x="104310" y="142875"/>
                  <a:pt x="95994" y="142875"/>
                </a:cubicBezTo>
                <a:lnTo>
                  <a:pt x="87064" y="142875"/>
                </a:lnTo>
                <a:cubicBezTo>
                  <a:pt x="82125" y="142875"/>
                  <a:pt x="78135" y="138885"/>
                  <a:pt x="78135" y="133945"/>
                </a:cubicBezTo>
                <a:lnTo>
                  <a:pt x="78135" y="8930"/>
                </a:lnTo>
                <a:cubicBezTo>
                  <a:pt x="78135" y="3990"/>
                  <a:pt x="82125" y="0"/>
                  <a:pt x="87064" y="0"/>
                </a:cubicBezTo>
                <a:lnTo>
                  <a:pt x="93762" y="0"/>
                </a:lnTo>
                <a:cubicBezTo>
                  <a:pt x="102384" y="0"/>
                  <a:pt x="109389" y="7004"/>
                  <a:pt x="109389" y="15627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7" name="Text 45"/>
          <p:cNvSpPr/>
          <p:nvPr/>
        </p:nvSpPr>
        <p:spPr>
          <a:xfrm>
            <a:off x="8975700" y="1833563"/>
            <a:ext cx="1254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Reasoning Steps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998521" y="227012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9" name="Text 47"/>
          <p:cNvSpPr/>
          <p:nvPr/>
        </p:nvSpPr>
        <p:spPr>
          <a:xfrm>
            <a:off x="9178106" y="2230438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Chain-of-thought logs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998521" y="252412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1" name="Text 49"/>
          <p:cNvSpPr/>
          <p:nvPr/>
        </p:nvSpPr>
        <p:spPr>
          <a:xfrm>
            <a:off x="9178106" y="2484438"/>
            <a:ext cx="10398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rationale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998521" y="277812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3" name="Text 51"/>
          <p:cNvSpPr/>
          <p:nvPr/>
        </p:nvSpPr>
        <p:spPr>
          <a:xfrm>
            <a:off x="9178106" y="2738438"/>
            <a:ext cx="129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 alignment checks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998521" y="303212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5" name="Text 53"/>
          <p:cNvSpPr/>
          <p:nvPr/>
        </p:nvSpPr>
        <p:spPr>
          <a:xfrm>
            <a:off x="9178106" y="2992438"/>
            <a:ext cx="112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count &amp; depth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291150" y="33416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380447" y="342900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5719" y="26789"/>
                </a:moveTo>
                <a:lnTo>
                  <a:pt x="35719" y="22324"/>
                </a:lnTo>
                <a:cubicBezTo>
                  <a:pt x="35719" y="9990"/>
                  <a:pt x="59717" y="0"/>
                  <a:pt x="89297" y="0"/>
                </a:cubicBezTo>
                <a:cubicBezTo>
                  <a:pt x="118876" y="0"/>
                  <a:pt x="142875" y="9990"/>
                  <a:pt x="142875" y="22324"/>
                </a:cubicBezTo>
                <a:lnTo>
                  <a:pt x="142875" y="26789"/>
                </a:lnTo>
                <a:cubicBezTo>
                  <a:pt x="142875" y="35328"/>
                  <a:pt x="131350" y="42751"/>
                  <a:pt x="114412" y="46518"/>
                </a:cubicBezTo>
                <a:cubicBezTo>
                  <a:pt x="113742" y="45737"/>
                  <a:pt x="113044" y="44983"/>
                  <a:pt x="112347" y="44286"/>
                </a:cubicBezTo>
                <a:cubicBezTo>
                  <a:pt x="108021" y="40016"/>
                  <a:pt x="102440" y="36779"/>
                  <a:pt x="96608" y="34379"/>
                </a:cubicBezTo>
                <a:cubicBezTo>
                  <a:pt x="84916" y="29496"/>
                  <a:pt x="69679" y="26817"/>
                  <a:pt x="53578" y="26817"/>
                </a:cubicBezTo>
                <a:cubicBezTo>
                  <a:pt x="47467" y="26817"/>
                  <a:pt x="41495" y="27208"/>
                  <a:pt x="35775" y="27961"/>
                </a:cubicBezTo>
                <a:cubicBezTo>
                  <a:pt x="35719" y="27598"/>
                  <a:pt x="35719" y="27208"/>
                  <a:pt x="35719" y="26817"/>
                </a:cubicBezTo>
                <a:close/>
                <a:moveTo>
                  <a:pt x="120551" y="98506"/>
                </a:moveTo>
                <a:lnTo>
                  <a:pt x="120551" y="85613"/>
                </a:lnTo>
                <a:cubicBezTo>
                  <a:pt x="124764" y="84525"/>
                  <a:pt x="128727" y="83241"/>
                  <a:pt x="132327" y="81735"/>
                </a:cubicBezTo>
                <a:cubicBezTo>
                  <a:pt x="136010" y="80200"/>
                  <a:pt x="139610" y="78330"/>
                  <a:pt x="142875" y="76070"/>
                </a:cubicBezTo>
                <a:lnTo>
                  <a:pt x="142875" y="80367"/>
                </a:lnTo>
                <a:cubicBezTo>
                  <a:pt x="142875" y="87846"/>
                  <a:pt x="134085" y="94459"/>
                  <a:pt x="120551" y="98506"/>
                </a:cubicBezTo>
                <a:close/>
                <a:moveTo>
                  <a:pt x="120551" y="71717"/>
                </a:moveTo>
                <a:lnTo>
                  <a:pt x="120551" y="62508"/>
                </a:lnTo>
                <a:cubicBezTo>
                  <a:pt x="120551" y="61252"/>
                  <a:pt x="120439" y="60052"/>
                  <a:pt x="120272" y="58880"/>
                </a:cubicBezTo>
                <a:cubicBezTo>
                  <a:pt x="124597" y="57792"/>
                  <a:pt x="128643" y="56480"/>
                  <a:pt x="132327" y="54918"/>
                </a:cubicBezTo>
                <a:cubicBezTo>
                  <a:pt x="136010" y="53355"/>
                  <a:pt x="139610" y="51513"/>
                  <a:pt x="142875" y="49253"/>
                </a:cubicBezTo>
                <a:lnTo>
                  <a:pt x="142875" y="53550"/>
                </a:lnTo>
                <a:cubicBezTo>
                  <a:pt x="142875" y="61029"/>
                  <a:pt x="134085" y="67642"/>
                  <a:pt x="120551" y="71689"/>
                </a:cubicBezTo>
                <a:close/>
                <a:moveTo>
                  <a:pt x="0" y="66973"/>
                </a:moveTo>
                <a:lnTo>
                  <a:pt x="0" y="62508"/>
                </a:lnTo>
                <a:cubicBezTo>
                  <a:pt x="0" y="50174"/>
                  <a:pt x="23999" y="40184"/>
                  <a:pt x="53578" y="40184"/>
                </a:cubicBezTo>
                <a:cubicBezTo>
                  <a:pt x="83158" y="40184"/>
                  <a:pt x="107156" y="50174"/>
                  <a:pt x="107156" y="62508"/>
                </a:cubicBezTo>
                <a:lnTo>
                  <a:pt x="107156" y="66973"/>
                </a:lnTo>
                <a:cubicBezTo>
                  <a:pt x="107156" y="79307"/>
                  <a:pt x="83158" y="89297"/>
                  <a:pt x="53578" y="89297"/>
                </a:cubicBezTo>
                <a:cubicBezTo>
                  <a:pt x="23999" y="89297"/>
                  <a:pt x="0" y="79307"/>
                  <a:pt x="0" y="66973"/>
                </a:cubicBezTo>
                <a:close/>
                <a:moveTo>
                  <a:pt x="107156" y="93762"/>
                </a:moveTo>
                <a:cubicBezTo>
                  <a:pt x="107156" y="106096"/>
                  <a:pt x="83158" y="116086"/>
                  <a:pt x="53578" y="116086"/>
                </a:cubicBezTo>
                <a:cubicBezTo>
                  <a:pt x="23999" y="116086"/>
                  <a:pt x="0" y="106096"/>
                  <a:pt x="0" y="93762"/>
                </a:cubicBezTo>
                <a:lnTo>
                  <a:pt x="0" y="89464"/>
                </a:lnTo>
                <a:cubicBezTo>
                  <a:pt x="3237" y="91725"/>
                  <a:pt x="6837" y="93566"/>
                  <a:pt x="10548" y="95129"/>
                </a:cubicBezTo>
                <a:cubicBezTo>
                  <a:pt x="22241" y="100013"/>
                  <a:pt x="37477" y="102691"/>
                  <a:pt x="53578" y="102691"/>
                </a:cubicBezTo>
                <a:cubicBezTo>
                  <a:pt x="69679" y="102691"/>
                  <a:pt x="84916" y="99985"/>
                  <a:pt x="96608" y="95129"/>
                </a:cubicBezTo>
                <a:cubicBezTo>
                  <a:pt x="100292" y="93594"/>
                  <a:pt x="103891" y="91725"/>
                  <a:pt x="107156" y="89464"/>
                </a:cubicBezTo>
                <a:lnTo>
                  <a:pt x="107156" y="93762"/>
                </a:lnTo>
                <a:close/>
                <a:moveTo>
                  <a:pt x="107156" y="116253"/>
                </a:moveTo>
                <a:lnTo>
                  <a:pt x="107156" y="120551"/>
                </a:lnTo>
                <a:cubicBezTo>
                  <a:pt x="107156" y="132885"/>
                  <a:pt x="83158" y="142875"/>
                  <a:pt x="53578" y="142875"/>
                </a:cubicBezTo>
                <a:cubicBezTo>
                  <a:pt x="23999" y="142875"/>
                  <a:pt x="0" y="132885"/>
                  <a:pt x="0" y="120551"/>
                </a:cubicBezTo>
                <a:lnTo>
                  <a:pt x="0" y="116253"/>
                </a:lnTo>
                <a:cubicBezTo>
                  <a:pt x="3237" y="118514"/>
                  <a:pt x="6837" y="120355"/>
                  <a:pt x="10548" y="121918"/>
                </a:cubicBezTo>
                <a:cubicBezTo>
                  <a:pt x="22241" y="126802"/>
                  <a:pt x="37477" y="129480"/>
                  <a:pt x="53578" y="129480"/>
                </a:cubicBezTo>
                <a:cubicBezTo>
                  <a:pt x="69679" y="129480"/>
                  <a:pt x="84916" y="126774"/>
                  <a:pt x="96608" y="121918"/>
                </a:cubicBezTo>
                <a:cubicBezTo>
                  <a:pt x="100292" y="120383"/>
                  <a:pt x="103891" y="118514"/>
                  <a:pt x="107156" y="116253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58" name="Text 56"/>
          <p:cNvSpPr/>
          <p:nvPr/>
        </p:nvSpPr>
        <p:spPr>
          <a:xfrm>
            <a:off x="5703900" y="3389313"/>
            <a:ext cx="992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 Usage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726720" y="382587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0" name="Text 58"/>
          <p:cNvSpPr/>
          <p:nvPr/>
        </p:nvSpPr>
        <p:spPr>
          <a:xfrm>
            <a:off x="5906306" y="3786188"/>
            <a:ext cx="115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Input/output tokens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726720" y="407987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2" name="Text 60"/>
          <p:cNvSpPr/>
          <p:nvPr/>
        </p:nvSpPr>
        <p:spPr>
          <a:xfrm>
            <a:off x="5906306" y="4040188"/>
            <a:ext cx="77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tracking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726720" y="433387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4" name="Text 62"/>
          <p:cNvSpPr/>
          <p:nvPr/>
        </p:nvSpPr>
        <p:spPr>
          <a:xfrm>
            <a:off x="5906306" y="4294188"/>
            <a:ext cx="132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 window usage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726720" y="458787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6" name="Text 64"/>
          <p:cNvSpPr/>
          <p:nvPr/>
        </p:nvSpPr>
        <p:spPr>
          <a:xfrm>
            <a:off x="5906306" y="4548188"/>
            <a:ext cx="738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562950" y="33416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652247" y="342900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33973" y="53578"/>
                </a:moveTo>
                <a:lnTo>
                  <a:pt x="136178" y="53578"/>
                </a:lnTo>
                <a:cubicBezTo>
                  <a:pt x="139889" y="53578"/>
                  <a:pt x="142875" y="50592"/>
                  <a:pt x="142875" y="46881"/>
                </a:cubicBezTo>
                <a:lnTo>
                  <a:pt x="142875" y="6697"/>
                </a:lnTo>
                <a:cubicBezTo>
                  <a:pt x="142875" y="3990"/>
                  <a:pt x="141256" y="1535"/>
                  <a:pt x="138745" y="502"/>
                </a:cubicBezTo>
                <a:cubicBezTo>
                  <a:pt x="136234" y="-530"/>
                  <a:pt x="133359" y="56"/>
                  <a:pt x="131434" y="1953"/>
                </a:cubicBezTo>
                <a:lnTo>
                  <a:pt x="117007" y="16408"/>
                </a:lnTo>
                <a:cubicBezTo>
                  <a:pt x="104645" y="6167"/>
                  <a:pt x="88739" y="0"/>
                  <a:pt x="71438" y="0"/>
                </a:cubicBezTo>
                <a:cubicBezTo>
                  <a:pt x="35440" y="0"/>
                  <a:pt x="5665" y="26622"/>
                  <a:pt x="726" y="61252"/>
                </a:cubicBezTo>
                <a:cubicBezTo>
                  <a:pt x="28" y="66135"/>
                  <a:pt x="3404" y="70656"/>
                  <a:pt x="8288" y="71354"/>
                </a:cubicBezTo>
                <a:cubicBezTo>
                  <a:pt x="13171" y="72051"/>
                  <a:pt x="17692" y="68647"/>
                  <a:pt x="18390" y="63791"/>
                </a:cubicBezTo>
                <a:cubicBezTo>
                  <a:pt x="22101" y="37812"/>
                  <a:pt x="44453" y="17859"/>
                  <a:pt x="71438" y="17859"/>
                </a:cubicBezTo>
                <a:cubicBezTo>
                  <a:pt x="83827" y="17859"/>
                  <a:pt x="95213" y="22045"/>
                  <a:pt x="104282" y="29105"/>
                </a:cubicBezTo>
                <a:lnTo>
                  <a:pt x="91250" y="42137"/>
                </a:lnTo>
                <a:cubicBezTo>
                  <a:pt x="89325" y="44062"/>
                  <a:pt x="88767" y="46937"/>
                  <a:pt x="89799" y="49448"/>
                </a:cubicBezTo>
                <a:cubicBezTo>
                  <a:pt x="90832" y="51960"/>
                  <a:pt x="93287" y="53578"/>
                  <a:pt x="95994" y="53578"/>
                </a:cubicBezTo>
                <a:lnTo>
                  <a:pt x="133973" y="53578"/>
                </a:lnTo>
                <a:close/>
                <a:moveTo>
                  <a:pt x="142177" y="81623"/>
                </a:moveTo>
                <a:cubicBezTo>
                  <a:pt x="142875" y="76740"/>
                  <a:pt x="139471" y="72219"/>
                  <a:pt x="134615" y="71521"/>
                </a:cubicBezTo>
                <a:cubicBezTo>
                  <a:pt x="129760" y="70824"/>
                  <a:pt x="125211" y="74228"/>
                  <a:pt x="124513" y="79084"/>
                </a:cubicBezTo>
                <a:cubicBezTo>
                  <a:pt x="120802" y="105035"/>
                  <a:pt x="98450" y="124988"/>
                  <a:pt x="71465" y="124988"/>
                </a:cubicBezTo>
                <a:cubicBezTo>
                  <a:pt x="59075" y="124988"/>
                  <a:pt x="47690" y="120802"/>
                  <a:pt x="38621" y="113742"/>
                </a:cubicBezTo>
                <a:lnTo>
                  <a:pt x="51625" y="100738"/>
                </a:lnTo>
                <a:cubicBezTo>
                  <a:pt x="53550" y="98813"/>
                  <a:pt x="54108" y="95938"/>
                  <a:pt x="53076" y="93427"/>
                </a:cubicBezTo>
                <a:cubicBezTo>
                  <a:pt x="52043" y="90915"/>
                  <a:pt x="49588" y="89297"/>
                  <a:pt x="46881" y="89297"/>
                </a:cubicBezTo>
                <a:lnTo>
                  <a:pt x="6697" y="89297"/>
                </a:lnTo>
                <a:cubicBezTo>
                  <a:pt x="2986" y="89297"/>
                  <a:pt x="0" y="92283"/>
                  <a:pt x="0" y="95994"/>
                </a:cubicBezTo>
                <a:lnTo>
                  <a:pt x="0" y="136178"/>
                </a:lnTo>
                <a:cubicBezTo>
                  <a:pt x="0" y="138885"/>
                  <a:pt x="1619" y="141340"/>
                  <a:pt x="4130" y="142373"/>
                </a:cubicBezTo>
                <a:cubicBezTo>
                  <a:pt x="6641" y="143405"/>
                  <a:pt x="9516" y="142819"/>
                  <a:pt x="11441" y="140922"/>
                </a:cubicBezTo>
                <a:lnTo>
                  <a:pt x="25896" y="126467"/>
                </a:lnTo>
                <a:cubicBezTo>
                  <a:pt x="38230" y="136708"/>
                  <a:pt x="54136" y="142875"/>
                  <a:pt x="71438" y="142875"/>
                </a:cubicBezTo>
                <a:cubicBezTo>
                  <a:pt x="107435" y="142875"/>
                  <a:pt x="137210" y="116253"/>
                  <a:pt x="142149" y="81623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69" name="Text 67"/>
          <p:cNvSpPr/>
          <p:nvPr/>
        </p:nvSpPr>
        <p:spPr>
          <a:xfrm>
            <a:off x="8975700" y="3389313"/>
            <a:ext cx="1016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Failure Loops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998521" y="382587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1" name="Text 69"/>
          <p:cNvSpPr/>
          <p:nvPr/>
        </p:nvSpPr>
        <p:spPr>
          <a:xfrm>
            <a:off x="9178106" y="3786188"/>
            <a:ext cx="87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Retry attempts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998521" y="407987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3" name="Text 71"/>
          <p:cNvSpPr/>
          <p:nvPr/>
        </p:nvSpPr>
        <p:spPr>
          <a:xfrm>
            <a:off x="9178106" y="4040188"/>
            <a:ext cx="81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patterns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998521" y="433387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5" name="Text 73"/>
          <p:cNvSpPr/>
          <p:nvPr/>
        </p:nvSpPr>
        <p:spPr>
          <a:xfrm>
            <a:off x="9178106" y="4294188"/>
            <a:ext cx="1008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Recovery actions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998521" y="458787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7" name="Text 75"/>
          <p:cNvSpPr/>
          <p:nvPr/>
        </p:nvSpPr>
        <p:spPr>
          <a:xfrm>
            <a:off x="9178106" y="4548188"/>
            <a:ext cx="1309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Circuit breaker triggers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5096681" y="6020594"/>
            <a:ext cx="6770688" cy="515938"/>
          </a:xfrm>
          <a:custGeom>
            <a:avLst/>
            <a:gdLst/>
            <a:ahLst/>
            <a:cxnLst/>
            <a:rect l="l" t="t" r="r" b="b"/>
            <a:pathLst>
              <a:path w="6770688" h="515938">
                <a:moveTo>
                  <a:pt x="63502" y="0"/>
                </a:moveTo>
                <a:lnTo>
                  <a:pt x="6707186" y="0"/>
                </a:lnTo>
                <a:cubicBezTo>
                  <a:pt x="6742257" y="0"/>
                  <a:pt x="6770688" y="28431"/>
                  <a:pt x="6770688" y="63502"/>
                </a:cubicBezTo>
                <a:lnTo>
                  <a:pt x="6770688" y="452436"/>
                </a:lnTo>
                <a:cubicBezTo>
                  <a:pt x="6770687" y="487507"/>
                  <a:pt x="6742257" y="515938"/>
                  <a:pt x="6707186" y="515938"/>
                </a:cubicBezTo>
                <a:lnTo>
                  <a:pt x="63502" y="515938"/>
                </a:lnTo>
                <a:cubicBezTo>
                  <a:pt x="28431" y="515938"/>
                  <a:pt x="0" y="487507"/>
                  <a:pt x="0" y="452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83212" y="61833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80" name="Text 78"/>
          <p:cNvSpPr/>
          <p:nvPr/>
        </p:nvSpPr>
        <p:spPr>
          <a:xfrm>
            <a:off x="5592775" y="6183313"/>
            <a:ext cx="5627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Implement defense in depth with multiple layers of controls and continuous monitoring.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pencerstuart.com/5ab977fb9d1b0bedfe0a5cc0eff1ad0c96ab0213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3466" r="3466" t="0" b="0"/>
          <a:stretch/>
        </p:blipFill>
        <p:spPr>
          <a:xfrm>
            <a:off x="0" y="0"/>
            <a:ext cx="12192000" cy="685565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5655"/>
          </a:xfrm>
          <a:custGeom>
            <a:avLst/>
            <a:gdLst/>
            <a:ahLst/>
            <a:cxnLst/>
            <a:rect l="l" t="t" r="r" b="b"/>
            <a:pathLst>
              <a:path w="12192000" h="6855655">
                <a:moveTo>
                  <a:pt x="0" y="0"/>
                </a:moveTo>
                <a:lnTo>
                  <a:pt x="12192000" y="0"/>
                </a:lnTo>
                <a:lnTo>
                  <a:pt x="12192000" y="6855655"/>
                </a:lnTo>
                <a:lnTo>
                  <a:pt x="0" y="685565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3D8F8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75138" y="-49237"/>
            <a:ext cx="11516751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spc="118" kern="0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75138" y="288388"/>
            <a:ext cx="11723077" cy="703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3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Insight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93895" y="1516966"/>
            <a:ext cx="9584788" cy="1519311"/>
          </a:xfrm>
          <a:custGeom>
            <a:avLst/>
            <a:gdLst/>
            <a:ahLst/>
            <a:cxnLst/>
            <a:rect l="l" t="t" r="r" b="b"/>
            <a:pathLst>
              <a:path w="9584788" h="1519311">
                <a:moveTo>
                  <a:pt x="0" y="0"/>
                </a:moveTo>
                <a:lnTo>
                  <a:pt x="9509764" y="0"/>
                </a:lnTo>
                <a:cubicBezTo>
                  <a:pt x="9551198" y="0"/>
                  <a:pt x="9584788" y="33589"/>
                  <a:pt x="9584788" y="75024"/>
                </a:cubicBezTo>
                <a:lnTo>
                  <a:pt x="9584788" y="1444287"/>
                </a:lnTo>
                <a:cubicBezTo>
                  <a:pt x="9584788" y="1485722"/>
                  <a:pt x="9551198" y="1519311"/>
                  <a:pt x="9509764" y="1519311"/>
                </a:cubicBezTo>
                <a:lnTo>
                  <a:pt x="0" y="1519311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93895" y="1516966"/>
            <a:ext cx="37514" cy="1519311"/>
          </a:xfrm>
          <a:custGeom>
            <a:avLst/>
            <a:gdLst/>
            <a:ahLst/>
            <a:cxnLst/>
            <a:rect l="l" t="t" r="r" b="b"/>
            <a:pathLst>
              <a:path w="37514" h="1519311">
                <a:moveTo>
                  <a:pt x="0" y="0"/>
                </a:moveTo>
                <a:lnTo>
                  <a:pt x="37514" y="0"/>
                </a:lnTo>
                <a:lnTo>
                  <a:pt x="37514" y="1519311"/>
                </a:lnTo>
                <a:lnTo>
                  <a:pt x="0" y="1519311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8" name="Text 5"/>
          <p:cNvSpPr/>
          <p:nvPr/>
        </p:nvSpPr>
        <p:spPr>
          <a:xfrm>
            <a:off x="712763" y="1817077"/>
            <a:ext cx="9106486" cy="919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1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biggest challenge in AI today is </a:t>
            </a:r>
            <a:pPr>
              <a:lnSpc>
                <a:spcPct val="140000"/>
              </a:lnSpc>
            </a:pPr>
            <a:r>
              <a:rPr lang="en-US" sz="2215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building models</a:t>
            </a:r>
            <a:pPr>
              <a:lnSpc>
                <a:spcPct val="140000"/>
              </a:lnSpc>
            </a:pPr>
            <a:r>
              <a:rPr lang="en-US" sz="221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It is </a:t>
            </a:r>
            <a:pPr>
              <a:lnSpc>
                <a:spcPct val="140000"/>
              </a:lnSpc>
            </a:pPr>
            <a:r>
              <a:rPr lang="en-US" sz="2215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operating AI systems</a:t>
            </a:r>
            <a:pPr>
              <a:lnSpc>
                <a:spcPct val="140000"/>
              </a:lnSpc>
            </a:pPr>
            <a:r>
              <a:rPr lang="en-US" sz="221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can reason, act, and interact safely with real infrastructure.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79828" y="3336388"/>
            <a:ext cx="3038622" cy="1997612"/>
          </a:xfrm>
          <a:custGeom>
            <a:avLst/>
            <a:gdLst/>
            <a:ahLst/>
            <a:cxnLst/>
            <a:rect l="l" t="t" r="r" b="b"/>
            <a:pathLst>
              <a:path w="3038622" h="1997612">
                <a:moveTo>
                  <a:pt x="75030" y="0"/>
                </a:moveTo>
                <a:lnTo>
                  <a:pt x="2963591" y="0"/>
                </a:lnTo>
                <a:cubicBezTo>
                  <a:pt x="3005029" y="0"/>
                  <a:pt x="3038622" y="33592"/>
                  <a:pt x="3038622" y="75030"/>
                </a:cubicBezTo>
                <a:lnTo>
                  <a:pt x="3038622" y="1922582"/>
                </a:lnTo>
                <a:cubicBezTo>
                  <a:pt x="3038622" y="1964020"/>
                  <a:pt x="3005029" y="1997612"/>
                  <a:pt x="2963591" y="1997612"/>
                </a:cubicBezTo>
                <a:lnTo>
                  <a:pt x="75030" y="1997612"/>
                </a:lnTo>
                <a:cubicBezTo>
                  <a:pt x="33592" y="1997612"/>
                  <a:pt x="0" y="1964020"/>
                  <a:pt x="0" y="1922582"/>
                </a:cubicBezTo>
                <a:lnTo>
                  <a:pt x="0" y="75030"/>
                </a:lnTo>
                <a:cubicBezTo>
                  <a:pt x="0" y="33620"/>
                  <a:pt x="33620" y="0"/>
                  <a:pt x="75030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566" y="3566160"/>
            <a:ext cx="600222" cy="600222"/>
          </a:xfrm>
          <a:custGeom>
            <a:avLst/>
            <a:gdLst/>
            <a:ahLst/>
            <a:cxnLst/>
            <a:rect l="l" t="t" r="r" b="b"/>
            <a:pathLst>
              <a:path w="600222" h="600222">
                <a:moveTo>
                  <a:pt x="300111" y="0"/>
                </a:moveTo>
                <a:lnTo>
                  <a:pt x="300111" y="0"/>
                </a:lnTo>
                <a:cubicBezTo>
                  <a:pt x="465746" y="0"/>
                  <a:pt x="600222" y="134475"/>
                  <a:pt x="600222" y="300111"/>
                </a:cubicBezTo>
                <a:lnTo>
                  <a:pt x="600222" y="300111"/>
                </a:lnTo>
                <a:cubicBezTo>
                  <a:pt x="600222" y="465746"/>
                  <a:pt x="465746" y="600222"/>
                  <a:pt x="300111" y="600222"/>
                </a:cubicBezTo>
                <a:lnTo>
                  <a:pt x="300111" y="600222"/>
                </a:lnTo>
                <a:cubicBezTo>
                  <a:pt x="134475" y="600222"/>
                  <a:pt x="0" y="465746"/>
                  <a:pt x="0" y="300111"/>
                </a:cubicBezTo>
                <a:lnTo>
                  <a:pt x="0" y="300111"/>
                </a:lnTo>
                <a:cubicBezTo>
                  <a:pt x="0" y="134475"/>
                  <a:pt x="134475" y="0"/>
                  <a:pt x="30011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762345" y="3725594"/>
            <a:ext cx="281354" cy="281354"/>
          </a:xfrm>
          <a:custGeom>
            <a:avLst/>
            <a:gdLst/>
            <a:ahLst/>
            <a:cxnLst/>
            <a:rect l="l" t="t" r="r" b="b"/>
            <a:pathLst>
              <a:path w="281354" h="281354">
                <a:moveTo>
                  <a:pt x="105508" y="35169"/>
                </a:moveTo>
                <a:cubicBezTo>
                  <a:pt x="105508" y="25443"/>
                  <a:pt x="113366" y="17585"/>
                  <a:pt x="123092" y="17585"/>
                </a:cubicBezTo>
                <a:lnTo>
                  <a:pt x="158262" y="17585"/>
                </a:lnTo>
                <a:cubicBezTo>
                  <a:pt x="167988" y="17585"/>
                  <a:pt x="175846" y="25443"/>
                  <a:pt x="175846" y="35169"/>
                </a:cubicBezTo>
                <a:lnTo>
                  <a:pt x="175846" y="70338"/>
                </a:lnTo>
                <a:cubicBezTo>
                  <a:pt x="175846" y="80065"/>
                  <a:pt x="167988" y="87923"/>
                  <a:pt x="158262" y="87923"/>
                </a:cubicBezTo>
                <a:lnTo>
                  <a:pt x="153865" y="87923"/>
                </a:lnTo>
                <a:lnTo>
                  <a:pt x="153865" y="123092"/>
                </a:lnTo>
                <a:lnTo>
                  <a:pt x="219808" y="123092"/>
                </a:lnTo>
                <a:cubicBezTo>
                  <a:pt x="241679" y="123092"/>
                  <a:pt x="259373" y="140787"/>
                  <a:pt x="259373" y="162658"/>
                </a:cubicBezTo>
                <a:lnTo>
                  <a:pt x="259373" y="193431"/>
                </a:lnTo>
                <a:lnTo>
                  <a:pt x="263769" y="193431"/>
                </a:lnTo>
                <a:cubicBezTo>
                  <a:pt x="273496" y="193431"/>
                  <a:pt x="281354" y="201289"/>
                  <a:pt x="281354" y="211015"/>
                </a:cubicBezTo>
                <a:lnTo>
                  <a:pt x="281354" y="246185"/>
                </a:lnTo>
                <a:cubicBezTo>
                  <a:pt x="281354" y="255911"/>
                  <a:pt x="273496" y="263769"/>
                  <a:pt x="263769" y="263769"/>
                </a:cubicBezTo>
                <a:lnTo>
                  <a:pt x="228600" y="263769"/>
                </a:lnTo>
                <a:cubicBezTo>
                  <a:pt x="218874" y="263769"/>
                  <a:pt x="211015" y="255911"/>
                  <a:pt x="211015" y="246185"/>
                </a:cubicBezTo>
                <a:lnTo>
                  <a:pt x="211015" y="211015"/>
                </a:lnTo>
                <a:cubicBezTo>
                  <a:pt x="211015" y="201289"/>
                  <a:pt x="218874" y="193431"/>
                  <a:pt x="228600" y="193431"/>
                </a:cubicBezTo>
                <a:lnTo>
                  <a:pt x="232996" y="193431"/>
                </a:lnTo>
                <a:lnTo>
                  <a:pt x="232996" y="162658"/>
                </a:lnTo>
                <a:cubicBezTo>
                  <a:pt x="232996" y="155349"/>
                  <a:pt x="227116" y="149469"/>
                  <a:pt x="219808" y="149469"/>
                </a:cubicBezTo>
                <a:lnTo>
                  <a:pt x="153865" y="149469"/>
                </a:lnTo>
                <a:lnTo>
                  <a:pt x="153865" y="193431"/>
                </a:lnTo>
                <a:lnTo>
                  <a:pt x="158262" y="193431"/>
                </a:lnTo>
                <a:cubicBezTo>
                  <a:pt x="167988" y="193431"/>
                  <a:pt x="175846" y="201289"/>
                  <a:pt x="175846" y="211015"/>
                </a:cubicBezTo>
                <a:lnTo>
                  <a:pt x="175846" y="246185"/>
                </a:lnTo>
                <a:cubicBezTo>
                  <a:pt x="175846" y="255911"/>
                  <a:pt x="167988" y="263769"/>
                  <a:pt x="158262" y="263769"/>
                </a:cubicBezTo>
                <a:lnTo>
                  <a:pt x="123092" y="263769"/>
                </a:lnTo>
                <a:cubicBezTo>
                  <a:pt x="113366" y="263769"/>
                  <a:pt x="105508" y="255911"/>
                  <a:pt x="105508" y="246185"/>
                </a:cubicBezTo>
                <a:lnTo>
                  <a:pt x="105508" y="211015"/>
                </a:lnTo>
                <a:cubicBezTo>
                  <a:pt x="105508" y="201289"/>
                  <a:pt x="113366" y="193431"/>
                  <a:pt x="123092" y="193431"/>
                </a:cubicBezTo>
                <a:lnTo>
                  <a:pt x="127488" y="193431"/>
                </a:lnTo>
                <a:lnTo>
                  <a:pt x="127488" y="149469"/>
                </a:lnTo>
                <a:lnTo>
                  <a:pt x="61546" y="149469"/>
                </a:lnTo>
                <a:cubicBezTo>
                  <a:pt x="54238" y="149469"/>
                  <a:pt x="48358" y="155349"/>
                  <a:pt x="48358" y="162658"/>
                </a:cubicBezTo>
                <a:lnTo>
                  <a:pt x="48358" y="193431"/>
                </a:lnTo>
                <a:lnTo>
                  <a:pt x="52754" y="193431"/>
                </a:lnTo>
                <a:cubicBezTo>
                  <a:pt x="62480" y="193431"/>
                  <a:pt x="70338" y="201289"/>
                  <a:pt x="70338" y="211015"/>
                </a:cubicBezTo>
                <a:lnTo>
                  <a:pt x="70338" y="246185"/>
                </a:lnTo>
                <a:cubicBezTo>
                  <a:pt x="70338" y="255911"/>
                  <a:pt x="62480" y="263769"/>
                  <a:pt x="52754" y="263769"/>
                </a:cubicBezTo>
                <a:lnTo>
                  <a:pt x="17585" y="263769"/>
                </a:lnTo>
                <a:cubicBezTo>
                  <a:pt x="7858" y="263769"/>
                  <a:pt x="0" y="255911"/>
                  <a:pt x="0" y="246185"/>
                </a:cubicBezTo>
                <a:lnTo>
                  <a:pt x="0" y="211015"/>
                </a:lnTo>
                <a:cubicBezTo>
                  <a:pt x="0" y="201289"/>
                  <a:pt x="7858" y="193431"/>
                  <a:pt x="17585" y="193431"/>
                </a:cubicBezTo>
                <a:lnTo>
                  <a:pt x="21981" y="193431"/>
                </a:lnTo>
                <a:lnTo>
                  <a:pt x="21981" y="162658"/>
                </a:lnTo>
                <a:cubicBezTo>
                  <a:pt x="21981" y="140787"/>
                  <a:pt x="39675" y="123092"/>
                  <a:pt x="61546" y="123092"/>
                </a:cubicBezTo>
                <a:lnTo>
                  <a:pt x="127488" y="123092"/>
                </a:lnTo>
                <a:lnTo>
                  <a:pt x="127488" y="87923"/>
                </a:lnTo>
                <a:lnTo>
                  <a:pt x="123092" y="87923"/>
                </a:lnTo>
                <a:cubicBezTo>
                  <a:pt x="113366" y="87923"/>
                  <a:pt x="105508" y="80065"/>
                  <a:pt x="105508" y="70338"/>
                </a:cubicBezTo>
                <a:lnTo>
                  <a:pt x="105508" y="35169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2" name="Text 9"/>
          <p:cNvSpPr/>
          <p:nvPr/>
        </p:nvSpPr>
        <p:spPr>
          <a:xfrm>
            <a:off x="562708" y="4316437"/>
            <a:ext cx="2672862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2086" y="4654062"/>
            <a:ext cx="2654105" cy="450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2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Well-designed, modular, and scalable infrastructure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655988" y="3336388"/>
            <a:ext cx="3038622" cy="1997612"/>
          </a:xfrm>
          <a:custGeom>
            <a:avLst/>
            <a:gdLst/>
            <a:ahLst/>
            <a:cxnLst/>
            <a:rect l="l" t="t" r="r" b="b"/>
            <a:pathLst>
              <a:path w="3038622" h="1997612">
                <a:moveTo>
                  <a:pt x="75030" y="0"/>
                </a:moveTo>
                <a:lnTo>
                  <a:pt x="2963591" y="0"/>
                </a:lnTo>
                <a:cubicBezTo>
                  <a:pt x="3005029" y="0"/>
                  <a:pt x="3038622" y="33592"/>
                  <a:pt x="3038622" y="75030"/>
                </a:cubicBezTo>
                <a:lnTo>
                  <a:pt x="3038622" y="1922582"/>
                </a:lnTo>
                <a:cubicBezTo>
                  <a:pt x="3038622" y="1964020"/>
                  <a:pt x="3005029" y="1997612"/>
                  <a:pt x="2963591" y="1997612"/>
                </a:cubicBezTo>
                <a:lnTo>
                  <a:pt x="75030" y="1997612"/>
                </a:lnTo>
                <a:cubicBezTo>
                  <a:pt x="33592" y="1997612"/>
                  <a:pt x="0" y="1964020"/>
                  <a:pt x="0" y="1922582"/>
                </a:cubicBezTo>
                <a:lnTo>
                  <a:pt x="0" y="75030"/>
                </a:lnTo>
                <a:cubicBezTo>
                  <a:pt x="0" y="33620"/>
                  <a:pt x="33620" y="0"/>
                  <a:pt x="75030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76727" y="3566160"/>
            <a:ext cx="600222" cy="600222"/>
          </a:xfrm>
          <a:custGeom>
            <a:avLst/>
            <a:gdLst/>
            <a:ahLst/>
            <a:cxnLst/>
            <a:rect l="l" t="t" r="r" b="b"/>
            <a:pathLst>
              <a:path w="600222" h="600222">
                <a:moveTo>
                  <a:pt x="300111" y="0"/>
                </a:moveTo>
                <a:lnTo>
                  <a:pt x="300111" y="0"/>
                </a:lnTo>
                <a:cubicBezTo>
                  <a:pt x="465746" y="0"/>
                  <a:pt x="600222" y="134475"/>
                  <a:pt x="600222" y="300111"/>
                </a:cubicBezTo>
                <a:lnTo>
                  <a:pt x="600222" y="300111"/>
                </a:lnTo>
                <a:cubicBezTo>
                  <a:pt x="600222" y="465746"/>
                  <a:pt x="465746" y="600222"/>
                  <a:pt x="300111" y="600222"/>
                </a:cubicBezTo>
                <a:lnTo>
                  <a:pt x="300111" y="600222"/>
                </a:lnTo>
                <a:cubicBezTo>
                  <a:pt x="134475" y="600222"/>
                  <a:pt x="0" y="465746"/>
                  <a:pt x="0" y="300111"/>
                </a:cubicBezTo>
                <a:lnTo>
                  <a:pt x="0" y="300111"/>
                </a:lnTo>
                <a:cubicBezTo>
                  <a:pt x="0" y="134475"/>
                  <a:pt x="134475" y="0"/>
                  <a:pt x="30011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003336" y="3725594"/>
            <a:ext cx="351692" cy="281354"/>
          </a:xfrm>
          <a:custGeom>
            <a:avLst/>
            <a:gdLst/>
            <a:ahLst/>
            <a:cxnLst/>
            <a:rect l="l" t="t" r="r" b="b"/>
            <a:pathLst>
              <a:path w="351692" h="281354">
                <a:moveTo>
                  <a:pt x="211015" y="17585"/>
                </a:moveTo>
                <a:lnTo>
                  <a:pt x="281354" y="17585"/>
                </a:lnTo>
                <a:cubicBezTo>
                  <a:pt x="291080" y="17585"/>
                  <a:pt x="298938" y="25443"/>
                  <a:pt x="298938" y="35169"/>
                </a:cubicBezTo>
                <a:cubicBezTo>
                  <a:pt x="298938" y="44896"/>
                  <a:pt x="291080" y="52754"/>
                  <a:pt x="281354" y="52754"/>
                </a:cubicBezTo>
                <a:lnTo>
                  <a:pt x="218928" y="52754"/>
                </a:lnTo>
                <a:cubicBezTo>
                  <a:pt x="216071" y="66931"/>
                  <a:pt x="206344" y="78636"/>
                  <a:pt x="193431" y="84241"/>
                </a:cubicBezTo>
                <a:lnTo>
                  <a:pt x="193431" y="246185"/>
                </a:lnTo>
                <a:lnTo>
                  <a:pt x="281354" y="246185"/>
                </a:lnTo>
                <a:cubicBezTo>
                  <a:pt x="291080" y="246185"/>
                  <a:pt x="298938" y="254043"/>
                  <a:pt x="298938" y="263769"/>
                </a:cubicBezTo>
                <a:cubicBezTo>
                  <a:pt x="298938" y="273496"/>
                  <a:pt x="291080" y="281354"/>
                  <a:pt x="281354" y="281354"/>
                </a:cubicBezTo>
                <a:lnTo>
                  <a:pt x="70338" y="281354"/>
                </a:lnTo>
                <a:cubicBezTo>
                  <a:pt x="60612" y="281354"/>
                  <a:pt x="52754" y="273496"/>
                  <a:pt x="52754" y="263769"/>
                </a:cubicBezTo>
                <a:cubicBezTo>
                  <a:pt x="52754" y="254043"/>
                  <a:pt x="60612" y="246185"/>
                  <a:pt x="70338" y="246185"/>
                </a:cubicBezTo>
                <a:lnTo>
                  <a:pt x="158262" y="246185"/>
                </a:lnTo>
                <a:lnTo>
                  <a:pt x="158262" y="84241"/>
                </a:lnTo>
                <a:cubicBezTo>
                  <a:pt x="145348" y="78581"/>
                  <a:pt x="135621" y="66876"/>
                  <a:pt x="132764" y="52754"/>
                </a:cubicBezTo>
                <a:lnTo>
                  <a:pt x="70338" y="52754"/>
                </a:lnTo>
                <a:cubicBezTo>
                  <a:pt x="60612" y="52754"/>
                  <a:pt x="52754" y="44896"/>
                  <a:pt x="52754" y="35169"/>
                </a:cubicBezTo>
                <a:cubicBezTo>
                  <a:pt x="52754" y="25443"/>
                  <a:pt x="60612" y="17585"/>
                  <a:pt x="70338" y="17585"/>
                </a:cubicBezTo>
                <a:lnTo>
                  <a:pt x="140677" y="17585"/>
                </a:lnTo>
                <a:cubicBezTo>
                  <a:pt x="148700" y="6924"/>
                  <a:pt x="161449" y="0"/>
                  <a:pt x="175846" y="0"/>
                </a:cubicBezTo>
                <a:cubicBezTo>
                  <a:pt x="190244" y="0"/>
                  <a:pt x="202992" y="6924"/>
                  <a:pt x="211015" y="17585"/>
                </a:cubicBezTo>
                <a:close/>
                <a:moveTo>
                  <a:pt x="241569" y="175846"/>
                </a:moveTo>
                <a:lnTo>
                  <a:pt x="321139" y="175846"/>
                </a:lnTo>
                <a:lnTo>
                  <a:pt x="281354" y="107596"/>
                </a:lnTo>
                <a:lnTo>
                  <a:pt x="241569" y="175846"/>
                </a:lnTo>
                <a:close/>
                <a:moveTo>
                  <a:pt x="281354" y="228600"/>
                </a:moveTo>
                <a:cubicBezTo>
                  <a:pt x="246789" y="228600"/>
                  <a:pt x="218049" y="209916"/>
                  <a:pt x="212114" y="185243"/>
                </a:cubicBezTo>
                <a:cubicBezTo>
                  <a:pt x="210686" y="179198"/>
                  <a:pt x="212664" y="172989"/>
                  <a:pt x="215796" y="167603"/>
                </a:cubicBezTo>
                <a:lnTo>
                  <a:pt x="268110" y="77922"/>
                </a:lnTo>
                <a:cubicBezTo>
                  <a:pt x="270858" y="73196"/>
                  <a:pt x="275914" y="70338"/>
                  <a:pt x="281354" y="70338"/>
                </a:cubicBezTo>
                <a:cubicBezTo>
                  <a:pt x="286794" y="70338"/>
                  <a:pt x="291850" y="73251"/>
                  <a:pt x="294597" y="77922"/>
                </a:cubicBezTo>
                <a:lnTo>
                  <a:pt x="346911" y="167603"/>
                </a:lnTo>
                <a:cubicBezTo>
                  <a:pt x="350044" y="172989"/>
                  <a:pt x="352022" y="179198"/>
                  <a:pt x="350593" y="185243"/>
                </a:cubicBezTo>
                <a:cubicBezTo>
                  <a:pt x="344658" y="209861"/>
                  <a:pt x="315919" y="228600"/>
                  <a:pt x="281354" y="228600"/>
                </a:cubicBezTo>
                <a:close/>
                <a:moveTo>
                  <a:pt x="69679" y="107596"/>
                </a:moveTo>
                <a:lnTo>
                  <a:pt x="29894" y="175846"/>
                </a:lnTo>
                <a:lnTo>
                  <a:pt x="109519" y="175846"/>
                </a:lnTo>
                <a:lnTo>
                  <a:pt x="69679" y="107596"/>
                </a:lnTo>
                <a:close/>
                <a:moveTo>
                  <a:pt x="495" y="185243"/>
                </a:moveTo>
                <a:cubicBezTo>
                  <a:pt x="-934" y="179198"/>
                  <a:pt x="1044" y="172989"/>
                  <a:pt x="4176" y="167603"/>
                </a:cubicBezTo>
                <a:lnTo>
                  <a:pt x="56491" y="77922"/>
                </a:lnTo>
                <a:cubicBezTo>
                  <a:pt x="59238" y="73196"/>
                  <a:pt x="64294" y="70338"/>
                  <a:pt x="69734" y="70338"/>
                </a:cubicBezTo>
                <a:cubicBezTo>
                  <a:pt x="75174" y="70338"/>
                  <a:pt x="80230" y="73251"/>
                  <a:pt x="82977" y="77922"/>
                </a:cubicBezTo>
                <a:lnTo>
                  <a:pt x="135292" y="167603"/>
                </a:lnTo>
                <a:cubicBezTo>
                  <a:pt x="138424" y="172989"/>
                  <a:pt x="140402" y="179198"/>
                  <a:pt x="138973" y="185243"/>
                </a:cubicBezTo>
                <a:cubicBezTo>
                  <a:pt x="133039" y="209861"/>
                  <a:pt x="104299" y="228600"/>
                  <a:pt x="69734" y="228600"/>
                </a:cubicBezTo>
                <a:cubicBezTo>
                  <a:pt x="35169" y="228600"/>
                  <a:pt x="6429" y="209916"/>
                  <a:pt x="495" y="18524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7" name="Text 14"/>
          <p:cNvSpPr/>
          <p:nvPr/>
        </p:nvSpPr>
        <p:spPr>
          <a:xfrm>
            <a:off x="3838868" y="4316437"/>
            <a:ext cx="2672862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848247" y="4654062"/>
            <a:ext cx="2654105" cy="450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2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policies, controls, and accountability frameworks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932222" y="3336388"/>
            <a:ext cx="3038622" cy="1997612"/>
          </a:xfrm>
          <a:custGeom>
            <a:avLst/>
            <a:gdLst/>
            <a:ahLst/>
            <a:cxnLst/>
            <a:rect l="l" t="t" r="r" b="b"/>
            <a:pathLst>
              <a:path w="3038622" h="1997612">
                <a:moveTo>
                  <a:pt x="75030" y="0"/>
                </a:moveTo>
                <a:lnTo>
                  <a:pt x="2963591" y="0"/>
                </a:lnTo>
                <a:cubicBezTo>
                  <a:pt x="3005029" y="0"/>
                  <a:pt x="3038622" y="33592"/>
                  <a:pt x="3038622" y="75030"/>
                </a:cubicBezTo>
                <a:lnTo>
                  <a:pt x="3038622" y="1922582"/>
                </a:lnTo>
                <a:cubicBezTo>
                  <a:pt x="3038622" y="1964020"/>
                  <a:pt x="3005029" y="1997612"/>
                  <a:pt x="2963591" y="1997612"/>
                </a:cubicBezTo>
                <a:lnTo>
                  <a:pt x="75030" y="1997612"/>
                </a:lnTo>
                <a:cubicBezTo>
                  <a:pt x="33592" y="1997612"/>
                  <a:pt x="0" y="1964020"/>
                  <a:pt x="0" y="1922582"/>
                </a:cubicBezTo>
                <a:lnTo>
                  <a:pt x="0" y="75030"/>
                </a:lnTo>
                <a:cubicBezTo>
                  <a:pt x="0" y="33620"/>
                  <a:pt x="33620" y="0"/>
                  <a:pt x="75030" y="0"/>
                </a:cubicBezTo>
                <a:close/>
              </a:path>
            </a:pathLst>
          </a:custGeom>
          <a:solidFill>
            <a:srgbClr val="4A5059">
              <a:alpha val="30196"/>
            </a:srgbClr>
          </a:solidFill>
          <a:ln w="12700">
            <a:solidFill>
              <a:srgbClr val="4A5059">
                <a:alpha val="5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52960" y="3566160"/>
            <a:ext cx="600222" cy="600222"/>
          </a:xfrm>
          <a:custGeom>
            <a:avLst/>
            <a:gdLst/>
            <a:ahLst/>
            <a:cxnLst/>
            <a:rect l="l" t="t" r="r" b="b"/>
            <a:pathLst>
              <a:path w="600222" h="600222">
                <a:moveTo>
                  <a:pt x="300111" y="0"/>
                </a:moveTo>
                <a:lnTo>
                  <a:pt x="300111" y="0"/>
                </a:lnTo>
                <a:cubicBezTo>
                  <a:pt x="465746" y="0"/>
                  <a:pt x="600222" y="134475"/>
                  <a:pt x="600222" y="300111"/>
                </a:cubicBezTo>
                <a:lnTo>
                  <a:pt x="600222" y="300111"/>
                </a:lnTo>
                <a:cubicBezTo>
                  <a:pt x="600222" y="465746"/>
                  <a:pt x="465746" y="600222"/>
                  <a:pt x="300111" y="600222"/>
                </a:cubicBezTo>
                <a:lnTo>
                  <a:pt x="300111" y="600222"/>
                </a:lnTo>
                <a:cubicBezTo>
                  <a:pt x="134475" y="600222"/>
                  <a:pt x="0" y="465746"/>
                  <a:pt x="0" y="300111"/>
                </a:cubicBezTo>
                <a:lnTo>
                  <a:pt x="0" y="300111"/>
                </a:lnTo>
                <a:cubicBezTo>
                  <a:pt x="0" y="134475"/>
                  <a:pt x="134475" y="0"/>
                  <a:pt x="30011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8314739" y="3725594"/>
            <a:ext cx="281354" cy="281354"/>
          </a:xfrm>
          <a:custGeom>
            <a:avLst/>
            <a:gdLst/>
            <a:ahLst/>
            <a:cxnLst/>
            <a:rect l="l" t="t" r="r" b="b"/>
            <a:pathLst>
              <a:path w="281354" h="281354">
                <a:moveTo>
                  <a:pt x="35169" y="35169"/>
                </a:moveTo>
                <a:cubicBezTo>
                  <a:pt x="35169" y="25443"/>
                  <a:pt x="27311" y="17585"/>
                  <a:pt x="17585" y="17585"/>
                </a:cubicBezTo>
                <a:cubicBezTo>
                  <a:pt x="7858" y="17585"/>
                  <a:pt x="0" y="25443"/>
                  <a:pt x="0" y="35169"/>
                </a:cubicBezTo>
                <a:lnTo>
                  <a:pt x="0" y="219808"/>
                </a:lnTo>
                <a:cubicBezTo>
                  <a:pt x="0" y="244096"/>
                  <a:pt x="19673" y="263769"/>
                  <a:pt x="43962" y="263769"/>
                </a:cubicBezTo>
                <a:lnTo>
                  <a:pt x="263769" y="263769"/>
                </a:lnTo>
                <a:cubicBezTo>
                  <a:pt x="273496" y="263769"/>
                  <a:pt x="281354" y="255911"/>
                  <a:pt x="281354" y="246185"/>
                </a:cubicBezTo>
                <a:cubicBezTo>
                  <a:pt x="281354" y="236458"/>
                  <a:pt x="273496" y="228600"/>
                  <a:pt x="263769" y="228600"/>
                </a:cubicBezTo>
                <a:lnTo>
                  <a:pt x="43962" y="228600"/>
                </a:lnTo>
                <a:cubicBezTo>
                  <a:pt x="39126" y="228600"/>
                  <a:pt x="35169" y="224643"/>
                  <a:pt x="35169" y="219808"/>
                </a:cubicBezTo>
                <a:lnTo>
                  <a:pt x="35169" y="35169"/>
                </a:lnTo>
                <a:close/>
                <a:moveTo>
                  <a:pt x="258604" y="82758"/>
                </a:moveTo>
                <a:cubicBezTo>
                  <a:pt x="265473" y="75889"/>
                  <a:pt x="265473" y="64733"/>
                  <a:pt x="258604" y="57864"/>
                </a:cubicBezTo>
                <a:cubicBezTo>
                  <a:pt x="251735" y="50995"/>
                  <a:pt x="240580" y="50995"/>
                  <a:pt x="233711" y="57864"/>
                </a:cubicBezTo>
                <a:lnTo>
                  <a:pt x="175846" y="115784"/>
                </a:lnTo>
                <a:lnTo>
                  <a:pt x="144304" y="84296"/>
                </a:lnTo>
                <a:cubicBezTo>
                  <a:pt x="137435" y="77427"/>
                  <a:pt x="126280" y="77427"/>
                  <a:pt x="119411" y="84296"/>
                </a:cubicBezTo>
                <a:lnTo>
                  <a:pt x="66657" y="137050"/>
                </a:lnTo>
                <a:cubicBezTo>
                  <a:pt x="59788" y="143919"/>
                  <a:pt x="59788" y="155074"/>
                  <a:pt x="66657" y="161943"/>
                </a:cubicBezTo>
                <a:cubicBezTo>
                  <a:pt x="73526" y="168812"/>
                  <a:pt x="84681" y="168812"/>
                  <a:pt x="91550" y="161943"/>
                </a:cubicBezTo>
                <a:lnTo>
                  <a:pt x="131885" y="121609"/>
                </a:lnTo>
                <a:lnTo>
                  <a:pt x="163427" y="153151"/>
                </a:lnTo>
                <a:cubicBezTo>
                  <a:pt x="170296" y="160020"/>
                  <a:pt x="181451" y="160020"/>
                  <a:pt x="188320" y="153151"/>
                </a:cubicBezTo>
                <a:lnTo>
                  <a:pt x="258659" y="8281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2" name="Text 19"/>
          <p:cNvSpPr/>
          <p:nvPr/>
        </p:nvSpPr>
        <p:spPr>
          <a:xfrm>
            <a:off x="7115102" y="4316437"/>
            <a:ext cx="2672862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124480" y="4654062"/>
            <a:ext cx="2654105" cy="450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2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monitoring, logging, and tracing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84517" y="5648178"/>
            <a:ext cx="9584788" cy="1247335"/>
          </a:xfrm>
          <a:custGeom>
            <a:avLst/>
            <a:gdLst/>
            <a:ahLst/>
            <a:cxnLst/>
            <a:rect l="l" t="t" r="r" b="b"/>
            <a:pathLst>
              <a:path w="9584788" h="1247335">
                <a:moveTo>
                  <a:pt x="75027" y="0"/>
                </a:moveTo>
                <a:lnTo>
                  <a:pt x="9509760" y="0"/>
                </a:lnTo>
                <a:cubicBezTo>
                  <a:pt x="9551197" y="0"/>
                  <a:pt x="9584788" y="33591"/>
                  <a:pt x="9584788" y="75027"/>
                </a:cubicBezTo>
                <a:lnTo>
                  <a:pt x="9584788" y="1172308"/>
                </a:lnTo>
                <a:cubicBezTo>
                  <a:pt x="9584788" y="1213745"/>
                  <a:pt x="9551197" y="1247335"/>
                  <a:pt x="9509760" y="1247335"/>
                </a:cubicBezTo>
                <a:lnTo>
                  <a:pt x="75027" y="1247335"/>
                </a:lnTo>
                <a:cubicBezTo>
                  <a:pt x="33591" y="1247335"/>
                  <a:pt x="0" y="1213745"/>
                  <a:pt x="0" y="1172308"/>
                </a:cubicBezTo>
                <a:lnTo>
                  <a:pt x="0" y="75027"/>
                </a:lnTo>
                <a:cubicBezTo>
                  <a:pt x="0" y="33619"/>
                  <a:pt x="33619" y="0"/>
                  <a:pt x="75027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25400">
            <a:solidFill>
              <a:srgbClr val="C9A86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03385" y="5920154"/>
            <a:ext cx="253218" cy="337625"/>
          </a:xfrm>
          <a:custGeom>
            <a:avLst/>
            <a:gdLst/>
            <a:ahLst/>
            <a:cxnLst/>
            <a:rect l="l" t="t" r="r" b="b"/>
            <a:pathLst>
              <a:path w="253218" h="337625">
                <a:moveTo>
                  <a:pt x="193145" y="253218"/>
                </a:moveTo>
                <a:cubicBezTo>
                  <a:pt x="197959" y="238513"/>
                  <a:pt x="207586" y="225193"/>
                  <a:pt x="218467" y="213719"/>
                </a:cubicBezTo>
                <a:cubicBezTo>
                  <a:pt x="240030" y="191035"/>
                  <a:pt x="253218" y="160372"/>
                  <a:pt x="253218" y="126609"/>
                </a:cubicBezTo>
                <a:cubicBezTo>
                  <a:pt x="253218" y="56710"/>
                  <a:pt x="196508" y="0"/>
                  <a:pt x="126609" y="0"/>
                </a:cubicBezTo>
                <a:cubicBezTo>
                  <a:pt x="56710" y="0"/>
                  <a:pt x="0" y="56710"/>
                  <a:pt x="0" y="126609"/>
                </a:cubicBezTo>
                <a:cubicBezTo>
                  <a:pt x="0" y="160372"/>
                  <a:pt x="13188" y="191035"/>
                  <a:pt x="34752" y="213719"/>
                </a:cubicBezTo>
                <a:cubicBezTo>
                  <a:pt x="45632" y="225193"/>
                  <a:pt x="55326" y="238513"/>
                  <a:pt x="60073" y="253218"/>
                </a:cubicBezTo>
                <a:lnTo>
                  <a:pt x="193079" y="253218"/>
                </a:lnTo>
                <a:close/>
                <a:moveTo>
                  <a:pt x="189914" y="284871"/>
                </a:moveTo>
                <a:lnTo>
                  <a:pt x="63305" y="284871"/>
                </a:lnTo>
                <a:lnTo>
                  <a:pt x="63305" y="295422"/>
                </a:lnTo>
                <a:cubicBezTo>
                  <a:pt x="63305" y="324568"/>
                  <a:pt x="86912" y="348175"/>
                  <a:pt x="116058" y="348175"/>
                </a:cubicBezTo>
                <a:lnTo>
                  <a:pt x="137160" y="348175"/>
                </a:lnTo>
                <a:cubicBezTo>
                  <a:pt x="166307" y="348175"/>
                  <a:pt x="189914" y="324568"/>
                  <a:pt x="189914" y="295422"/>
                </a:cubicBezTo>
                <a:lnTo>
                  <a:pt x="189914" y="284871"/>
                </a:lnTo>
                <a:close/>
                <a:moveTo>
                  <a:pt x="121334" y="73855"/>
                </a:moveTo>
                <a:cubicBezTo>
                  <a:pt x="95089" y="73855"/>
                  <a:pt x="73855" y="95089"/>
                  <a:pt x="73855" y="121334"/>
                </a:cubicBezTo>
                <a:cubicBezTo>
                  <a:pt x="73855" y="130104"/>
                  <a:pt x="66800" y="137160"/>
                  <a:pt x="58029" y="137160"/>
                </a:cubicBezTo>
                <a:cubicBezTo>
                  <a:pt x="49259" y="137160"/>
                  <a:pt x="42203" y="130104"/>
                  <a:pt x="42203" y="121334"/>
                </a:cubicBezTo>
                <a:cubicBezTo>
                  <a:pt x="42203" y="77614"/>
                  <a:pt x="77614" y="42203"/>
                  <a:pt x="121334" y="42203"/>
                </a:cubicBezTo>
                <a:cubicBezTo>
                  <a:pt x="130104" y="42203"/>
                  <a:pt x="137160" y="49259"/>
                  <a:pt x="137160" y="58029"/>
                </a:cubicBezTo>
                <a:cubicBezTo>
                  <a:pt x="137160" y="66800"/>
                  <a:pt x="130104" y="73855"/>
                  <a:pt x="121334" y="73855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6" name="Text 23"/>
          <p:cNvSpPr/>
          <p:nvPr/>
        </p:nvSpPr>
        <p:spPr>
          <a:xfrm>
            <a:off x="1191065" y="5882640"/>
            <a:ext cx="8299938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Closing Thought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91065" y="6295292"/>
            <a:ext cx="8299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72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is becoming an </a:t>
            </a:r>
            <a:pPr>
              <a:lnSpc>
                <a:spcPct val="140000"/>
              </a:lnSpc>
            </a:pPr>
            <a:r>
              <a:rPr lang="en-US" sz="1772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engineering and operations problem</a:t>
            </a:r>
            <a:pPr>
              <a:lnSpc>
                <a:spcPct val="140000"/>
              </a:lnSpc>
            </a:pPr>
            <a:r>
              <a:rPr lang="en-US" sz="1772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just a modeling problem.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Agentic AI Systems in Production</dc:title>
  <dc:subject>Operating Agentic AI Systems in Production</dc:subject>
  <dc:creator>Kimi</dc:creator>
  <cp:lastModifiedBy>Kimi</cp:lastModifiedBy>
  <cp:revision>1</cp:revision>
  <dcterms:created xsi:type="dcterms:W3CDTF">2026-03-14T03:06:01Z</dcterms:created>
  <dcterms:modified xsi:type="dcterms:W3CDTF">2026-03-14T03:06:01Z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{"Label":"Operating Agentic AI Systems in Production","ContentProducer":"001191110108MACG2KBH8F10000","ProduceID":"19cea492-8542-8eee-8000-0000ef7eae9b","ReservedCode1":"","ContentPropagator":"001191110108MACG2KBH8F20000","PropagateID":"19cea492-8542-8eee-8000-0000ef7eae9b","ReservedCode2":""}</vt:lpwstr>
  </property>
</Properties>
</file>